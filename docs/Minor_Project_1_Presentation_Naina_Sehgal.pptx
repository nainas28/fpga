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2843ee-5421-c14f-a0d4-aeaf1cb78471}">
          <p14:sldIdLst>
            <p14:sldId id="256"/>
            <p14:sldId id="257"/>
            <p14:sldId id="258"/>
          </p14:sldIdLst>
        </p14:section>
        <p14:section name="Design" id="{2bd951c8-ad7b-7a4e-ed4b-9f6019f08789}">
          <p14:sldIdLst>
            <p14:sldId id="259"/>
            <p14:sldId id="260"/>
            <p14:sldId id="261"/>
          </p14:sldIdLst>
        </p14:section>
        <p14:section name="Results" id="{7cde9c17-4733-f4e1-cbf8-993ad2824c56}">
          <p14:sldIdLst>
            <p14:sldId id="262"/>
            <p14:sldId id="263"/>
            <p14:sldId id="264"/>
          </p14:sldIdLst>
        </p14:section>
        <p14:section name="Conclusion" id="{055fcda9-5ff3-a240-0beb-2dde49513cc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31B"/>
                </a:solidFill>
                <a:latin typeface="+mn-lt"/>
              </a:defRPr>
            </a:pPr>
            <a:r>
              <a:rPr sz="1400" b="0" i="0" u="none" strike="noStrike">
                <a:solidFill>
                  <a:srgbClr val="14231B"/>
                </a:solidFill>
                <a:latin typeface="+mn-lt"/>
              </a:rPr>
              <a:t>Edge F1 score (1.0 = perfect match with clean-image edges)</a:t>
            </a:r>
          </a:p>
        </c:rich>
      </c:tx>
      <c:layout/>
      <c:overlay val="0"/>
    </c:title>
    <c:autoTitleDeleted val="0"/>
    <c:plotArea>
      <c:layout/>
      <c:barChart>
        <c:barDir val="col"/>
        <c:grouping val="clustered"/>
        <c:varyColors val="0"/>
        <c:ser>
          <c:idx val="0"/>
          <c:order val="0"/>
          <c:tx>
            <c:strRef>
              <c:f>Sheet1!$B$1</c:f>
              <c:strCache>
                <c:ptCount val="1"/>
                <c:pt idx="0">
                  <c:v>Sobel only</c:v>
                </c:pt>
              </c:strCache>
            </c:strRef>
          </c:tx>
          <c:spPr>
            <a:solidFill>
              <a:srgbClr val="7A857E"/>
            </a:solidFill>
            <a:effectLst/>
          </c:spPr>
          <c:invertIfNegative val="0"/>
          <c:dLbls>
            <c:numFmt formatCode="0.00" sourceLinked="0"/>
            <c:txPr>
              <a:bodyPr/>
              <a:lstStyle/>
              <a:p>
                <a:pPr>
                  <a:defRPr b="0" i="0" strike="noStrike" sz="1000" u="none">
                    <a:solidFill>
                      <a:srgbClr val="14231B"/>
                    </a:solidFill>
                    <a:latin typeface="+mn-lt"/>
                  </a:defRPr>
                </a:pPr>
              </a:p>
            </c:txPr>
            <c:showLegendKey val="0"/>
            <c:showVal val="1"/>
            <c:showCatName val="0"/>
            <c:showSerName val="0"/>
            <c:showPercent val="0"/>
            <c:showBubbleSize val="0"/>
            <c:showLeaderLines val="0"/>
          </c:dLbls>
          <c:cat>
            <c:multiLvlStrRef>
              <c:f>Sheet1!$A$2:$A$10</c:f>
              <c:multiLvlStrCache>
                <c:ptCount val="9"/>
                <c:lvl>
                  <c:pt idx="0">
                    <c:v>cam 5%</c:v>
                  </c:pt>
                  <c:pt idx="1">
                    <c:v>cam 10%</c:v>
                  </c:pt>
                  <c:pt idx="2">
                    <c:v>cam 20%</c:v>
                  </c:pt>
                  <c:pt idx="3">
                    <c:v>coins 5%</c:v>
                  </c:pt>
                  <c:pt idx="4">
                    <c:v>coins 10%</c:v>
                  </c:pt>
                  <c:pt idx="5">
                    <c:v>coins 20%</c:v>
                  </c:pt>
                  <c:pt idx="6">
                    <c:v>shapes 5%</c:v>
                  </c:pt>
                  <c:pt idx="7">
                    <c:v>shapes 10%</c:v>
                  </c:pt>
                  <c:pt idx="8">
                    <c:v>shapes 20%</c:v>
                  </c:pt>
                </c:lvl>
              </c:multiLvlStrCache>
            </c:multiLvlStrRef>
          </c:cat>
          <c:val>
            <c:numRef>
              <c:f>Sheet1!$B$2:$B$10</c:f>
              <c:numCache>
                <c:formatCode>General</c:formatCode>
                <c:ptCount val="9"/>
                <c:pt idx="0">
                  <c:v>0.57</c:v>
                </c:pt>
                <c:pt idx="1">
                  <c:v>0.42</c:v>
                </c:pt>
                <c:pt idx="2">
                  <c:v>0.3</c:v>
                </c:pt>
                <c:pt idx="3">
                  <c:v>0.69</c:v>
                </c:pt>
                <c:pt idx="4">
                  <c:v>0.54</c:v>
                </c:pt>
                <c:pt idx="5">
                  <c:v>0.41</c:v>
                </c:pt>
                <c:pt idx="6">
                  <c:v>0.47</c:v>
                </c:pt>
                <c:pt idx="7">
                  <c:v>0.32</c:v>
                </c:pt>
                <c:pt idx="8">
                  <c:v>0.22</c:v>
                </c:pt>
              </c:numCache>
            </c:numRef>
          </c:val>
        </c:ser>
        <c:ser>
          <c:idx val="1"/>
          <c:order val="1"/>
          <c:tx>
            <c:strRef>
              <c:f>Sheet1!$C$1</c:f>
              <c:strCache>
                <c:ptCount val="1"/>
                <c:pt idx="0">
                  <c:v>Median, then Sobel</c:v>
                </c:pt>
              </c:strCache>
            </c:strRef>
          </c:tx>
          <c:spPr>
            <a:solidFill>
              <a:srgbClr val="1E6B47"/>
            </a:solidFill>
            <a:effectLst/>
          </c:spPr>
          <c:invertIfNegative val="0"/>
          <c:dLbls>
            <c:numFmt formatCode="0.00" sourceLinked="0"/>
            <c:txPr>
              <a:bodyPr/>
              <a:lstStyle/>
              <a:p>
                <a:pPr>
                  <a:defRPr b="0" i="0" strike="noStrike" sz="1000" u="none">
                    <a:solidFill>
                      <a:srgbClr val="14231B"/>
                    </a:solidFill>
                    <a:latin typeface="+mn-lt"/>
                  </a:defRPr>
                </a:pPr>
              </a:p>
            </c:txPr>
            <c:showLegendKey val="0"/>
            <c:showVal val="1"/>
            <c:showCatName val="0"/>
            <c:showSerName val="0"/>
            <c:showPercent val="0"/>
            <c:showBubbleSize val="0"/>
            <c:showLeaderLines val="0"/>
          </c:dLbls>
          <c:cat>
            <c:multiLvlStrRef>
              <c:f>Sheet1!$A$2:$A$10</c:f>
              <c:multiLvlStrCache>
                <c:ptCount val="9"/>
                <c:lvl>
                  <c:pt idx="0">
                    <c:v>cam 5%</c:v>
                  </c:pt>
                  <c:pt idx="1">
                    <c:v>cam 10%</c:v>
                  </c:pt>
                  <c:pt idx="2">
                    <c:v>cam 20%</c:v>
                  </c:pt>
                  <c:pt idx="3">
                    <c:v>coins 5%</c:v>
                  </c:pt>
                  <c:pt idx="4">
                    <c:v>coins 10%</c:v>
                  </c:pt>
                  <c:pt idx="5">
                    <c:v>coins 20%</c:v>
                  </c:pt>
                  <c:pt idx="6">
                    <c:v>shapes 5%</c:v>
                  </c:pt>
                  <c:pt idx="7">
                    <c:v>shapes 10%</c:v>
                  </c:pt>
                  <c:pt idx="8">
                    <c:v>shapes 20%</c:v>
                  </c:pt>
                </c:lvl>
              </c:multiLvlStrCache>
            </c:multiLvlStrRef>
          </c:cat>
          <c:val>
            <c:numRef>
              <c:f>Sheet1!$C$2:$C$10</c:f>
              <c:numCache>
                <c:formatCode>General</c:formatCode>
                <c:ptCount val="9"/>
                <c:pt idx="0">
                  <c:v>0.81</c:v>
                </c:pt>
                <c:pt idx="1">
                  <c:v>0.81</c:v>
                </c:pt>
                <c:pt idx="2">
                  <c:v>0.76</c:v>
                </c:pt>
                <c:pt idx="3">
                  <c:v>0.9</c:v>
                </c:pt>
                <c:pt idx="4">
                  <c:v>0.88</c:v>
                </c:pt>
                <c:pt idx="5">
                  <c:v>0.83</c:v>
                </c:pt>
                <c:pt idx="6">
                  <c:v>0.98</c:v>
                </c:pt>
                <c:pt idx="7">
                  <c:v>0.97</c:v>
                </c:pt>
                <c:pt idx="8">
                  <c:v>0.89</c:v>
                </c:pt>
              </c:numCache>
            </c:numRef>
          </c:val>
        </c:ser>
        <c:dLbls>
          <c:numFmt formatCode="0.00" sourceLinked="0"/>
          <c:txPr>
            <a:bodyPr/>
            <a:lstStyle/>
            <a:p>
              <a:pPr>
                <a:defRPr b="0" i="0" strike="noStrike" sz="1000" u="none">
                  <a:solidFill>
                    <a:srgbClr val="14231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A5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1E6E2"/>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A5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4231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designs an FPGA image processing chain that first removes salt-and-pepper noise with a median filter and then finds edges with the Sobel operator. The image on the right is the edge map the system produces from a noisy cameraman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problem. With 10 percent noise, Sobel marks almost five thousand pixels as edges that do not exist, and the real outline of the cameraman is lost. Software processes one pixel at a time, so for real-time use we want a hardware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has four objectives: build a software reference, use it to measure how much the median filter helps, design the median filter in Verilog, and prove the hardware gives exactly the same output as the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has two halves. The top row is the Python model that runs the full experiment. Its outputs become test vectors for the hardware, shown in the bottom row, where the Verilog design is simulated and every output pixel is compared automatically with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median filter does not sort all nine values. It sorts each row, combines the rows into three values A, B and C, and takes their median. This gives the exact median with only 31 comparators in three pipeline stages. Sobel uses two 3 by 3 kernels; we add the absolute values instead of taking a square root, so the arithmetic is only additions and shifts.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implemented hardware. Pixels arrive one per clock with a valid flag. The window buffer stores the previous two rows in line buffers, so a full 3 by 3 window is ready for every new pixel without storing the whole frame. The median filter is a three-stage pipeline, so the total latency is four register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cameraman image at 10 percent noise. Sobel on the noisy image is full of false edges, while Sobel after the median filter shows clean outlines. Across all nine test cases, false edges dropped by 94 to 99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F1 edge accuracy for all nine cases. Grey is Sobel alone, green is median then Sobel. With the filter the score stays at 0.76 or above everywhere, while without it the score falls to 0.22 at 20 percent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the hardware is correct, the testbench streams the noisy image into the Verilog design and compares every output pixel with Python. All 15,876 pixels matched, including a run with random pauses in the input. The waveform shows noise pixels going in while the output stays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median filter makes Sobel robust to impulse noise, and the hardware median filter works at one pixel per clock and is verified bit for bit. In the next phase I will add Sobel in hardware and synthesise the full design.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31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3"/>
                </a:solidFill>
                <a:latin typeface="Calibri" pitchFamily="34" charset="0"/>
                <a:ea typeface="Calibri" pitchFamily="34" charset="-122"/>
                <a:cs typeface="Calibri" pitchFamily="34" charset="-120"/>
              </a:rPr>
              <a:t>Pipelined FPGA Median Filter and Sobel Edge Detection  |  Naina Sehgal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JIIT logo" descr="/home/claude/fpga/docs/figures/jiit_logo.png">    </p:cNvPr>
          <p:cNvPicPr>
            <a:picLocks noChangeAspect="1"/>
          </p:cNvPicPr>
          <p:nvPr/>
        </p:nvPicPr>
        <p:blipFill>
          <a:blip r:embed="rId1"/>
          <a:stretch>
            <a:fillRect/>
          </a:stretch>
        </p:blipFill>
        <p:spPr>
          <a:xfrm>
            <a:off x="548640" y="457200"/>
            <a:ext cx="822960" cy="1005840"/>
          </a:xfrm>
          <a:prstGeom prst="rect">
            <a:avLst/>
          </a:prstGeom>
        </p:spPr>
      </p:pic>
      <p:sp>
        <p:nvSpPr>
          <p:cNvPr id="3" name="Text 0"/>
          <p:cNvSpPr txBox="1"/>
          <p:nvPr/>
        </p:nvSpPr>
        <p:spPr>
          <a:xfrm>
            <a:off x="1554480" y="594360"/>
            <a:ext cx="7315200" cy="36576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Jaypee Institute of Information Technology, Noida</a:t>
            </a:r>
            <a:endParaRPr lang="en-US" sz="1600" dirty="0"/>
          </a:p>
        </p:txBody>
      </p:sp>
      <p:sp>
        <p:nvSpPr>
          <p:cNvPr id="4" name="Text 1"/>
          <p:cNvSpPr txBox="1"/>
          <p:nvPr/>
        </p:nvSpPr>
        <p:spPr>
          <a:xfrm>
            <a:off x="1554480" y="960120"/>
            <a:ext cx="8229600" cy="36576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Department of Electronics and Communication Engineering  |  Minor Project - 1</a:t>
            </a:r>
            <a:endParaRPr lang="en-US" sz="1400" dirty="0"/>
          </a:p>
        </p:txBody>
      </p:sp>
      <p:sp>
        <p:nvSpPr>
          <p:cNvPr id="5" name="Text 2"/>
          <p:cNvSpPr txBox="1"/>
          <p:nvPr/>
        </p:nvSpPr>
        <p:spPr>
          <a:xfrm>
            <a:off x="548640" y="2011680"/>
            <a:ext cx="7315200" cy="219456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Design and Simulation of a Pipelined FPGA-Based Image Processing System for Noise Reduction and Sobel Edge Detection</a:t>
            </a:r>
            <a:endParaRPr lang="en-US" sz="3400" dirty="0"/>
          </a:p>
        </p:txBody>
      </p:sp>
      <p:sp>
        <p:nvSpPr>
          <p:cNvPr id="6" name="Text 3"/>
          <p:cNvSpPr txBox="1"/>
          <p:nvPr/>
        </p:nvSpPr>
        <p:spPr>
          <a:xfrm>
            <a:off x="548640" y="4251960"/>
            <a:ext cx="7315200" cy="457200"/>
          </a:xfrm>
          <a:prstGeom prst="rect">
            <a:avLst/>
          </a:prstGeom>
          <a:noFill/>
          <a:ln/>
        </p:spPr>
        <p:txBody>
          <a:bodyPr wrap="square" lIns="0" tIns="0" rIns="0" bIns="0" rtlCol="0" anchor="ctr"/>
          <a:lstStyle/>
          <a:p>
            <a:pPr indent="0" marL="0">
              <a:buNone/>
            </a:pPr>
            <a:r>
              <a:rPr lang="en-US" sz="1600" i="1" dirty="0">
                <a:solidFill>
                  <a:schemeClr val="accent4"/>
                </a:solidFill>
                <a:latin typeface="Calibri" pitchFamily="34" charset="0"/>
                <a:ea typeface="Calibri" pitchFamily="34" charset="-122"/>
                <a:cs typeface="Calibri" pitchFamily="34" charset="-120"/>
              </a:rPr>
              <a:t>Median filter + Sobel operator in Verilog HDL, verified bit for bit against a Python model</a:t>
            </a:r>
            <a:endParaRPr lang="en-US" sz="1600" dirty="0"/>
          </a:p>
        </p:txBody>
      </p:sp>
      <p:sp>
        <p:nvSpPr>
          <p:cNvPr id="7" name="Text 4"/>
          <p:cNvSpPr txBox="1"/>
          <p:nvPr/>
        </p:nvSpPr>
        <p:spPr>
          <a:xfrm>
            <a:off x="548640" y="5120640"/>
            <a:ext cx="7315200" cy="822960"/>
          </a:xfrm>
          <a:prstGeom prst="rect">
            <a:avLst/>
          </a:prstGeom>
          <a:noFill/>
          <a:ln/>
        </p:spPr>
        <p:txBody>
          <a:bodyPr wrap="square" lIns="0" tIns="0" rIns="0" bIns="0" rtlCol="0" anchor="ctr"/>
          <a:lstStyle/>
          <a:p>
            <a:pPr indent="0" marL="0">
              <a:spcAft>
                <a:spcPts val="600"/>
              </a:spcAft>
              <a:buNone/>
            </a:pPr>
            <a:r>
              <a:rPr lang="en-US" sz="1600" b="1" dirty="0">
                <a:solidFill>
                  <a:schemeClr val="bg1"/>
                </a:solidFill>
                <a:latin typeface="Calibri" pitchFamily="34" charset="0"/>
                <a:ea typeface="Calibri" pitchFamily="34" charset="-122"/>
                <a:cs typeface="Calibri" pitchFamily="34" charset="-120"/>
              </a:rPr>
              <a:t>Submitted by: </a:t>
            </a:r>
            <a:pPr indent="0" marL="0">
              <a:spcAft>
                <a:spcPts val="600"/>
              </a:spcAft>
              <a:buNone/>
            </a:pPr>
            <a:r>
              <a:rPr lang="en-US" sz="1600" dirty="0">
                <a:solidFill>
                  <a:schemeClr val="bg1"/>
                </a:solidFill>
                <a:latin typeface="Calibri" pitchFamily="34" charset="0"/>
                <a:ea typeface="Calibri" pitchFamily="34" charset="-122"/>
                <a:cs typeface="Calibri" pitchFamily="34" charset="-120"/>
              </a:rPr>
              <a:t>Naina Sehgal  (2401180029, Batch A16)</a:t>
            </a:r>
            <a:endParaRPr lang="en-US" sz="1600" dirty="0"/>
          </a:p>
          <a:p>
            <a:pPr indent="0" marL="0">
              <a:spcAft>
                <a:spcPts val="600"/>
              </a:spcAft>
              <a:buNone/>
            </a:pPr>
            <a:r>
              <a:rPr lang="en-US" sz="1600" b="1" dirty="0">
                <a:solidFill>
                  <a:schemeClr val="bg1"/>
                </a:solidFill>
                <a:latin typeface="Calibri" pitchFamily="34" charset="0"/>
                <a:ea typeface="Calibri" pitchFamily="34" charset="-122"/>
                <a:cs typeface="Calibri" pitchFamily="34" charset="-120"/>
              </a:rPr>
              <a:t>Submitted to: </a:t>
            </a:r>
            <a:pPr indent="0" marL="0">
              <a:spcAft>
                <a:spcPts val="600"/>
              </a:spcAft>
              <a:buNone/>
            </a:pPr>
            <a:r>
              <a:rPr lang="en-US" sz="1600" dirty="0">
                <a:solidFill>
                  <a:schemeClr val="bg1"/>
                </a:solidFill>
                <a:latin typeface="Calibri" pitchFamily="34" charset="0"/>
                <a:ea typeface="Calibri" pitchFamily="34" charset="-122"/>
                <a:cs typeface="Calibri" pitchFamily="34" charset="-120"/>
              </a:rPr>
              <a:t>Dr. Mandeep Narula</a:t>
            </a:r>
            <a:endParaRPr lang="en-US" sz="1600" dirty="0"/>
          </a:p>
        </p:txBody>
      </p:sp>
      <p:pic>
        <p:nvPicPr>
          <p:cNvPr id="8" name="edge map" descr="/tmp/claude-0/-home-claude-fpga/91c9d659-acc3-5ba9-87f9-0362e6dab428/scratchpad/ppt/edge_med.png">    </p:cNvPr>
          <p:cNvPicPr>
            <a:picLocks noChangeAspect="1"/>
          </p:cNvPicPr>
          <p:nvPr/>
        </p:nvPicPr>
        <p:blipFill>
          <a:blip r:embed="rId2"/>
          <a:stretch>
            <a:fillRect/>
          </a:stretch>
        </p:blipFill>
        <p:spPr>
          <a:xfrm>
            <a:off x="8321040" y="1737360"/>
            <a:ext cx="3291840" cy="3291840"/>
          </a:xfrm>
          <a:prstGeom prst="rect">
            <a:avLst/>
          </a:prstGeom>
        </p:spPr>
      </p:pic>
      <p:sp>
        <p:nvSpPr>
          <p:cNvPr id="9" name="Text 5"/>
          <p:cNvSpPr txBox="1"/>
          <p:nvPr/>
        </p:nvSpPr>
        <p:spPr>
          <a:xfrm>
            <a:off x="8321040" y="5120640"/>
            <a:ext cx="3291840" cy="320040"/>
          </a:xfrm>
          <a:prstGeom prst="rect">
            <a:avLst/>
          </a:prstGeom>
          <a:noFill/>
          <a:ln/>
        </p:spPr>
        <p:txBody>
          <a:bodyPr wrap="square" lIns="0" tIns="0" rIns="0" bIns="0" rtlCol="0" anchor="ctr"/>
          <a:lstStyle/>
          <a:p>
            <a:pPr algn="ctr" indent="0" marL="0">
              <a:buNone/>
            </a:pPr>
            <a:r>
              <a:rPr lang="en-US" sz="1200" dirty="0">
                <a:solidFill>
                  <a:schemeClr val="accent4"/>
                </a:solidFill>
                <a:latin typeface="Calibri" pitchFamily="34" charset="0"/>
                <a:ea typeface="Calibri" pitchFamily="34" charset="-122"/>
                <a:cs typeface="Calibri" pitchFamily="34" charset="-120"/>
              </a:rPr>
              <a:t>Edge map produced after median filtering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Problem: noise turns into false edges</a:t>
            </a:r>
            <a:endParaRPr lang="en-US" sz="3200" dirty="0"/>
          </a:p>
        </p:txBody>
      </p:sp>
      <p:pic>
        <p:nvPicPr>
          <p:cNvPr id="3" name="noisy image" descr="/tmp/claude-0/-home-claude-fpga/91c9d659-acc3-5ba9-87f9-0362e6dab428/scratchpad/ppt/noisy.png">    </p:cNvPr>
          <p:cNvPicPr>
            <a:picLocks noChangeAspect="1"/>
          </p:cNvPicPr>
          <p:nvPr/>
        </p:nvPicPr>
        <p:blipFill>
          <a:blip r:embed="rId1"/>
          <a:stretch>
            <a:fillRect/>
          </a:stretch>
        </p:blipFill>
        <p:spPr>
          <a:xfrm>
            <a:off x="548640" y="1417320"/>
            <a:ext cx="3291840" cy="3291840"/>
          </a:xfrm>
          <a:prstGeom prst="rect">
            <a:avLst/>
          </a:prstGeom>
        </p:spPr>
      </p:pic>
      <p:pic>
        <p:nvPicPr>
          <p:cNvPr id="4" name="sobel on noisy" descr="/tmp/claude-0/-home-claude-fpga/91c9d659-acc3-5ba9-87f9-0362e6dab428/scratchpad/ppt/edge_raw.png">    </p:cNvPr>
          <p:cNvPicPr>
            <a:picLocks noChangeAspect="1"/>
          </p:cNvPicPr>
          <p:nvPr/>
        </p:nvPicPr>
        <p:blipFill>
          <a:blip r:embed="rId2"/>
          <a:stretch>
            <a:fillRect/>
          </a:stretch>
        </p:blipFill>
        <p:spPr>
          <a:xfrm>
            <a:off x="4069080" y="1417320"/>
            <a:ext cx="3291840" cy="3291840"/>
          </a:xfrm>
          <a:prstGeom prst="rect">
            <a:avLst/>
          </a:prstGeom>
        </p:spPr>
      </p:pic>
      <p:sp>
        <p:nvSpPr>
          <p:cNvPr id="5" name="Text 1"/>
          <p:cNvSpPr txBox="1"/>
          <p:nvPr/>
        </p:nvSpPr>
        <p:spPr>
          <a:xfrm>
            <a:off x="548640" y="4800600"/>
            <a:ext cx="3291840" cy="320040"/>
          </a:xfrm>
          <a:prstGeom prst="rect">
            <a:avLst/>
          </a:prstGeom>
          <a:noFill/>
          <a:ln/>
        </p:spPr>
        <p:txBody>
          <a:bodyPr wrap="square" lIns="0" tIns="0" rIns="0" bIns="0" rtlCol="0" anchor="ctr"/>
          <a:lstStyle/>
          <a:p>
            <a:pPr algn="ctr" indent="0" marL="0">
              <a:buNone/>
            </a:pPr>
            <a:r>
              <a:rPr lang="en-US" sz="1300" dirty="0">
                <a:solidFill>
                  <a:schemeClr val="accent5"/>
                </a:solidFill>
                <a:latin typeface="Calibri" pitchFamily="34" charset="0"/>
                <a:ea typeface="Calibri" pitchFamily="34" charset="-122"/>
                <a:cs typeface="Calibri" pitchFamily="34" charset="-120"/>
              </a:rPr>
              <a:t>Input with 10% salt-and-pepper noise</a:t>
            </a:r>
            <a:endParaRPr lang="en-US" sz="1300" dirty="0"/>
          </a:p>
        </p:txBody>
      </p:sp>
      <p:sp>
        <p:nvSpPr>
          <p:cNvPr id="6" name="Text 2"/>
          <p:cNvSpPr txBox="1"/>
          <p:nvPr/>
        </p:nvSpPr>
        <p:spPr>
          <a:xfrm>
            <a:off x="4069080" y="4800600"/>
            <a:ext cx="3291840" cy="320040"/>
          </a:xfrm>
          <a:prstGeom prst="rect">
            <a:avLst/>
          </a:prstGeom>
          <a:noFill/>
          <a:ln/>
        </p:spPr>
        <p:txBody>
          <a:bodyPr wrap="square" lIns="0" tIns="0" rIns="0" bIns="0" rtlCol="0" anchor="ctr"/>
          <a:lstStyle/>
          <a:p>
            <a:pPr algn="ctr" indent="0" marL="0">
              <a:buNone/>
            </a:pPr>
            <a:r>
              <a:rPr lang="en-US" sz="1300" dirty="0">
                <a:solidFill>
                  <a:schemeClr val="accent5"/>
                </a:solidFill>
                <a:latin typeface="Calibri" pitchFamily="34" charset="0"/>
                <a:ea typeface="Calibri" pitchFamily="34" charset="-122"/>
                <a:cs typeface="Calibri" pitchFamily="34" charset="-120"/>
              </a:rPr>
              <a:t>Sobel applied directly to the noisy image</a:t>
            </a:r>
            <a:endParaRPr lang="en-US" sz="1300" dirty="0"/>
          </a:p>
        </p:txBody>
      </p:sp>
      <p:sp>
        <p:nvSpPr>
          <p:cNvPr id="7" name="stat card"/>
          <p:cNvSpPr/>
          <p:nvPr/>
        </p:nvSpPr>
        <p:spPr>
          <a:xfrm>
            <a:off x="7863840" y="1417320"/>
            <a:ext cx="3749040" cy="1234440"/>
          </a:xfrm>
          <a:prstGeom prst="roundRect">
            <a:avLst>
              <a:gd name="adj" fmla="val 5926"/>
            </a:avLst>
          </a:prstGeom>
          <a:solidFill>
            <a:schemeClr val="bg2"/>
          </a:solidFill>
          <a:ln/>
        </p:spPr>
      </p:sp>
      <p:sp>
        <p:nvSpPr>
          <p:cNvPr id="8" name="Text 4"/>
          <p:cNvSpPr txBox="1"/>
          <p:nvPr/>
        </p:nvSpPr>
        <p:spPr>
          <a:xfrm>
            <a:off x="8046720" y="1527048"/>
            <a:ext cx="3383280" cy="594360"/>
          </a:xfrm>
          <a:prstGeom prst="rect">
            <a:avLst/>
          </a:prstGeom>
          <a:noFill/>
          <a:ln/>
        </p:spPr>
        <p:txBody>
          <a:bodyPr wrap="square" lIns="0" tIns="0" rIns="0" bIns="0" rtlCol="0" anchor="ctr"/>
          <a:lstStyle/>
          <a:p>
            <a:pPr indent="0" marL="0">
              <a:buNone/>
            </a:pPr>
            <a:r>
              <a:rPr lang="en-US" sz="3000" b="1" dirty="0">
                <a:solidFill>
                  <a:schemeClr val="accent6"/>
                </a:solidFill>
                <a:latin typeface="Cambria" pitchFamily="34" charset="0"/>
                <a:ea typeface="Cambria" pitchFamily="34" charset="-122"/>
                <a:cs typeface="Cambria" pitchFamily="34" charset="-120"/>
              </a:rPr>
              <a:t>4,969</a:t>
            </a:r>
            <a:endParaRPr lang="en-US" sz="3000" dirty="0"/>
          </a:p>
        </p:txBody>
      </p:sp>
      <p:sp>
        <p:nvSpPr>
          <p:cNvPr id="9" name="Text 5"/>
          <p:cNvSpPr txBox="1"/>
          <p:nvPr/>
        </p:nvSpPr>
        <p:spPr>
          <a:xfrm>
            <a:off x="8046720" y="2130552"/>
            <a:ext cx="3383280" cy="438912"/>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false edge pixels in a 124×124 edge map</a:t>
            </a:r>
            <a:endParaRPr lang="en-US" sz="1300" dirty="0"/>
          </a:p>
        </p:txBody>
      </p:sp>
      <p:sp>
        <p:nvSpPr>
          <p:cNvPr id="10" name="Text 6"/>
          <p:cNvSpPr txBox="1"/>
          <p:nvPr/>
        </p:nvSpPr>
        <p:spPr>
          <a:xfrm>
            <a:off x="7863840" y="2880360"/>
            <a:ext cx="374904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Salt-and-pepper noise sets random pixels to pure black (0) or white (255).</a:t>
            </a:r>
            <a:endParaRPr lang="en-US" sz="1500" dirty="0"/>
          </a:p>
          <a:p>
            <a:pPr marL="228600" indent="-2286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Sobel measures sudden brightness change, so every noise pixel looks like an edge.</a:t>
            </a:r>
            <a:endParaRPr lang="en-US" sz="1500" dirty="0"/>
          </a:p>
          <a:p>
            <a:pPr marL="228600" indent="-2286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Real-time vision needs a fix that runs in hardware, one pixel per clock.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Aim and objectives</a:t>
            </a:r>
            <a:endParaRPr lang="en-US" sz="3200" dirty="0"/>
          </a:p>
        </p:txBody>
      </p:sp>
      <p:sp>
        <p:nvSpPr>
          <p:cNvPr id="3" name="aim box"/>
          <p:cNvSpPr/>
          <p:nvPr/>
        </p:nvSpPr>
        <p:spPr>
          <a:xfrm>
            <a:off x="548640" y="1325880"/>
            <a:ext cx="11064240" cy="960120"/>
          </a:xfrm>
          <a:prstGeom prst="roundRect">
            <a:avLst>
              <a:gd name="adj" fmla="val 7619"/>
            </a:avLst>
          </a:prstGeom>
          <a:solidFill>
            <a:schemeClr val="bg2"/>
          </a:solidFill>
          <a:ln/>
        </p:spPr>
      </p:sp>
      <p:sp>
        <p:nvSpPr>
          <p:cNvPr id="4" name="Text 2"/>
          <p:cNvSpPr txBox="1"/>
          <p:nvPr/>
        </p:nvSpPr>
        <p:spPr>
          <a:xfrm>
            <a:off x="777240" y="1417320"/>
            <a:ext cx="10607040" cy="777240"/>
          </a:xfrm>
          <a:prstGeom prst="rect">
            <a:avLst/>
          </a:prstGeom>
          <a:noFill/>
          <a:ln/>
        </p:spPr>
        <p:txBody>
          <a:bodyPr wrap="square" lIns="0" tIns="0" rIns="0" bIns="0" rtlCol="0" anchor="ctr"/>
          <a:lstStyle/>
          <a:p>
            <a:pPr indent="0" marL="0">
              <a:buNone/>
            </a:pPr>
            <a:r>
              <a:rPr lang="en-US" sz="1700" b="1" dirty="0">
                <a:solidFill>
                  <a:schemeClr val="accent1"/>
                </a:solidFill>
                <a:latin typeface="Calibri" pitchFamily="34" charset="0"/>
                <a:ea typeface="Calibri" pitchFamily="34" charset="-122"/>
                <a:cs typeface="Calibri" pitchFamily="34" charset="-120"/>
              </a:rPr>
              <a:t>Aim: </a:t>
            </a:r>
            <a:pPr indent="0" marL="0">
              <a:buNone/>
            </a:pPr>
            <a:r>
              <a:rPr lang="en-US" sz="1700" dirty="0">
                <a:solidFill>
                  <a:schemeClr val="tx1"/>
                </a:solidFill>
                <a:latin typeface="Calibri" pitchFamily="34" charset="0"/>
                <a:ea typeface="Calibri" pitchFamily="34" charset="-122"/>
                <a:cs typeface="Calibri" pitchFamily="34" charset="-120"/>
              </a:rPr>
              <a:t>Design and simulate an FPGA system that removes salt-and-pepper noise with a pipelined median filter before Sobel edge detection, and evaluate edge quality and hardware behaviour.</a:t>
            </a:r>
            <a:endParaRPr lang="en-US" sz="1700" dirty="0"/>
          </a:p>
        </p:txBody>
      </p:sp>
      <p:sp>
        <p:nvSpPr>
          <p:cNvPr id="5" name="step 1"/>
          <p:cNvSpPr/>
          <p:nvPr/>
        </p:nvSpPr>
        <p:spPr>
          <a:xfrm>
            <a:off x="548640" y="2697480"/>
            <a:ext cx="457200" cy="457200"/>
          </a:xfrm>
          <a:prstGeom prst="ellipse">
            <a:avLst/>
          </a:prstGeom>
          <a:solidFill>
            <a:schemeClr val="accent1"/>
          </a:solidFill>
          <a:ln/>
        </p:spPr>
      </p:sp>
      <p:sp>
        <p:nvSpPr>
          <p:cNvPr id="6" name="Text 4"/>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548640" y="3291840"/>
            <a:ext cx="256032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Software model</a:t>
            </a:r>
            <a:endParaRPr lang="en-US" sz="1800" dirty="0"/>
          </a:p>
        </p:txBody>
      </p:sp>
      <p:sp>
        <p:nvSpPr>
          <p:cNvPr id="8" name="Text 6"/>
          <p:cNvSpPr txBox="1"/>
          <p:nvPr/>
        </p:nvSpPr>
        <p:spPr>
          <a:xfrm>
            <a:off x="548640" y="3749040"/>
            <a:ext cx="2560320" cy="146304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Integer-exact Python model of noise, median filter, Sobel and threshold.</a:t>
            </a:r>
            <a:endParaRPr lang="en-US" sz="1500" dirty="0"/>
          </a:p>
        </p:txBody>
      </p:sp>
      <p:sp>
        <p:nvSpPr>
          <p:cNvPr id="9" name="step 2"/>
          <p:cNvSpPr/>
          <p:nvPr/>
        </p:nvSpPr>
        <p:spPr>
          <a:xfrm>
            <a:off x="3383280" y="2697480"/>
            <a:ext cx="457200" cy="457200"/>
          </a:xfrm>
          <a:prstGeom prst="ellipse">
            <a:avLst/>
          </a:prstGeom>
          <a:solidFill>
            <a:schemeClr val="accent1"/>
          </a:solidFill>
          <a:ln/>
        </p:spPr>
      </p:sp>
      <p:sp>
        <p:nvSpPr>
          <p:cNvPr id="10" name="Text 8"/>
          <p:cNvSpPr txBox="1"/>
          <p:nvPr/>
        </p:nvSpPr>
        <p:spPr>
          <a:xfrm>
            <a:off x="3383280" y="2697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3383280" y="3291840"/>
            <a:ext cx="256032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Measure the benefit</a:t>
            </a:r>
            <a:endParaRPr lang="en-US" sz="1800" dirty="0"/>
          </a:p>
        </p:txBody>
      </p:sp>
      <p:sp>
        <p:nvSpPr>
          <p:cNvPr id="12" name="Text 10"/>
          <p:cNvSpPr txBox="1"/>
          <p:nvPr/>
        </p:nvSpPr>
        <p:spPr>
          <a:xfrm>
            <a:off x="3383280" y="3749040"/>
            <a:ext cx="2560320" cy="146304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Compare edges with and without filtering using PSNR, SSIM, false edges and F1.</a:t>
            </a:r>
            <a:endParaRPr lang="en-US" sz="1500" dirty="0"/>
          </a:p>
        </p:txBody>
      </p:sp>
      <p:sp>
        <p:nvSpPr>
          <p:cNvPr id="13" name="step 3"/>
          <p:cNvSpPr/>
          <p:nvPr/>
        </p:nvSpPr>
        <p:spPr>
          <a:xfrm>
            <a:off x="6217920" y="2697480"/>
            <a:ext cx="457200" cy="457200"/>
          </a:xfrm>
          <a:prstGeom prst="ellipse">
            <a:avLst/>
          </a:prstGeom>
          <a:solidFill>
            <a:schemeClr val="accent1"/>
          </a:solidFill>
          <a:ln/>
        </p:spPr>
      </p:sp>
      <p:sp>
        <p:nvSpPr>
          <p:cNvPr id="14" name="Text 12"/>
          <p:cNvSpPr txBox="1"/>
          <p:nvPr/>
        </p:nvSpPr>
        <p:spPr>
          <a:xfrm>
            <a:off x="6217920" y="2697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6217920" y="3291840"/>
            <a:ext cx="256032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Hardware design</a:t>
            </a:r>
            <a:endParaRPr lang="en-US" sz="1800" dirty="0"/>
          </a:p>
        </p:txBody>
      </p:sp>
      <p:sp>
        <p:nvSpPr>
          <p:cNvPr id="16" name="Text 14"/>
          <p:cNvSpPr txBox="1"/>
          <p:nvPr/>
        </p:nvSpPr>
        <p:spPr>
          <a:xfrm>
            <a:off x="6217920" y="3749040"/>
            <a:ext cx="2560320" cy="146304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Median filter as a streaming, pipelined Verilog circuit with line buffers.</a:t>
            </a:r>
            <a:endParaRPr lang="en-US" sz="1500" dirty="0"/>
          </a:p>
        </p:txBody>
      </p:sp>
      <p:sp>
        <p:nvSpPr>
          <p:cNvPr id="17" name="step 4"/>
          <p:cNvSpPr/>
          <p:nvPr/>
        </p:nvSpPr>
        <p:spPr>
          <a:xfrm>
            <a:off x="9052560" y="2697480"/>
            <a:ext cx="457200" cy="457200"/>
          </a:xfrm>
          <a:prstGeom prst="ellipse">
            <a:avLst/>
          </a:prstGeom>
          <a:solidFill>
            <a:schemeClr val="accent1"/>
          </a:solidFill>
          <a:ln/>
        </p:spPr>
      </p:sp>
      <p:sp>
        <p:nvSpPr>
          <p:cNvPr id="18" name="Text 16"/>
          <p:cNvSpPr txBox="1"/>
          <p:nvPr/>
        </p:nvSpPr>
        <p:spPr>
          <a:xfrm>
            <a:off x="9052560" y="2697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19" name="Text 17"/>
          <p:cNvSpPr txBox="1"/>
          <p:nvPr/>
        </p:nvSpPr>
        <p:spPr>
          <a:xfrm>
            <a:off x="9052560" y="3291840"/>
            <a:ext cx="256032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Verify and measure</a:t>
            </a:r>
            <a:endParaRPr lang="en-US" sz="1800" dirty="0"/>
          </a:p>
        </p:txBody>
      </p:sp>
      <p:sp>
        <p:nvSpPr>
          <p:cNvPr id="20" name="Text 18"/>
          <p:cNvSpPr txBox="1"/>
          <p:nvPr/>
        </p:nvSpPr>
        <p:spPr>
          <a:xfrm>
            <a:off x="9052560" y="3749040"/>
            <a:ext cx="2560320" cy="146304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Bit-exact check against Python; measure latency and throughput.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Methodology</a:t>
            </a:r>
            <a:endParaRPr lang="en-US" sz="3200" dirty="0"/>
          </a:p>
        </p:txBody>
      </p:sp>
      <p:sp>
        <p:nvSpPr>
          <p:cNvPr id="3" name="Text 1"/>
          <p:cNvSpPr txBox="1"/>
          <p:nvPr/>
        </p:nvSpPr>
        <p:spPr>
          <a:xfrm>
            <a:off x="548640" y="1234440"/>
            <a:ext cx="10972800" cy="3200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Software reference model (Python)</a:t>
            </a:r>
            <a:endParaRPr lang="en-US" sz="1500" dirty="0"/>
          </a:p>
        </p:txBody>
      </p:sp>
      <p:sp>
        <p:nvSpPr>
          <p:cNvPr id="4" name="Input image"/>
          <p:cNvSpPr/>
          <p:nvPr/>
        </p:nvSpPr>
        <p:spPr>
          <a:xfrm>
            <a:off x="548640" y="1645920"/>
            <a:ext cx="1965960" cy="1417320"/>
          </a:xfrm>
          <a:prstGeom prst="roundRect">
            <a:avLst>
              <a:gd name="adj" fmla="val 5161"/>
            </a:avLst>
          </a:prstGeom>
          <a:solidFill>
            <a:schemeClr val="bg2"/>
          </a:solidFill>
          <a:ln w="12700">
            <a:solidFill>
              <a:schemeClr val="accent1"/>
            </a:solidFill>
            <a:prstDash val="solid"/>
          </a:ln>
        </p:spPr>
      </p:sp>
      <p:sp>
        <p:nvSpPr>
          <p:cNvPr id="5" name="Text 3"/>
          <p:cNvSpPr txBox="1"/>
          <p:nvPr/>
        </p:nvSpPr>
        <p:spPr>
          <a:xfrm>
            <a:off x="658368" y="1737360"/>
            <a:ext cx="17373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Input image</a:t>
            </a:r>
            <a:endParaRPr lang="en-US" sz="1500" dirty="0"/>
          </a:p>
        </p:txBody>
      </p:sp>
      <p:sp>
        <p:nvSpPr>
          <p:cNvPr id="6" name="Text 4"/>
          <p:cNvSpPr txBox="1"/>
          <p:nvPr/>
        </p:nvSpPr>
        <p:spPr>
          <a:xfrm>
            <a:off x="658368" y="2121408"/>
            <a:ext cx="173736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cameraman, coins, shapes; 128×128, 8-bit gray</a:t>
            </a:r>
            <a:endParaRPr lang="en-US" sz="1200" dirty="0"/>
          </a:p>
        </p:txBody>
      </p:sp>
      <p:sp>
        <p:nvSpPr>
          <p:cNvPr id="7" name="arrow"/>
          <p:cNvSpPr/>
          <p:nvPr/>
        </p:nvSpPr>
        <p:spPr>
          <a:xfrm>
            <a:off x="2542032" y="2212848"/>
            <a:ext cx="265176" cy="274320"/>
          </a:xfrm>
          <a:prstGeom prst="rightArrow">
            <a:avLst/>
          </a:prstGeom>
          <a:solidFill>
            <a:schemeClr val="accent3"/>
          </a:solidFill>
          <a:ln/>
        </p:spPr>
      </p:sp>
      <p:sp>
        <p:nvSpPr>
          <p:cNvPr id="8" name="Add noise"/>
          <p:cNvSpPr/>
          <p:nvPr/>
        </p:nvSpPr>
        <p:spPr>
          <a:xfrm>
            <a:off x="2834640" y="1645920"/>
            <a:ext cx="1965960" cy="1417320"/>
          </a:xfrm>
          <a:prstGeom prst="roundRect">
            <a:avLst>
              <a:gd name="adj" fmla="val 5161"/>
            </a:avLst>
          </a:prstGeom>
          <a:solidFill>
            <a:schemeClr val="bg2"/>
          </a:solidFill>
          <a:ln w="12700">
            <a:solidFill>
              <a:schemeClr val="accent1"/>
            </a:solidFill>
            <a:prstDash val="solid"/>
          </a:ln>
        </p:spPr>
      </p:sp>
      <p:sp>
        <p:nvSpPr>
          <p:cNvPr id="9" name="Text 7"/>
          <p:cNvSpPr txBox="1"/>
          <p:nvPr/>
        </p:nvSpPr>
        <p:spPr>
          <a:xfrm>
            <a:off x="2944368" y="1737360"/>
            <a:ext cx="17373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Add noise</a:t>
            </a:r>
            <a:endParaRPr lang="en-US" sz="1500" dirty="0"/>
          </a:p>
        </p:txBody>
      </p:sp>
      <p:sp>
        <p:nvSpPr>
          <p:cNvPr id="10" name="Text 8"/>
          <p:cNvSpPr txBox="1"/>
          <p:nvPr/>
        </p:nvSpPr>
        <p:spPr>
          <a:xfrm>
            <a:off x="2944368" y="2121408"/>
            <a:ext cx="173736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salt and pepper 5%, 10%, 20%; seed 2026</a:t>
            </a:r>
            <a:endParaRPr lang="en-US" sz="1200" dirty="0"/>
          </a:p>
        </p:txBody>
      </p:sp>
      <p:sp>
        <p:nvSpPr>
          <p:cNvPr id="11" name="arrow"/>
          <p:cNvSpPr/>
          <p:nvPr/>
        </p:nvSpPr>
        <p:spPr>
          <a:xfrm>
            <a:off x="4828032" y="2212848"/>
            <a:ext cx="265176" cy="274320"/>
          </a:xfrm>
          <a:prstGeom prst="rightArrow">
            <a:avLst/>
          </a:prstGeom>
          <a:solidFill>
            <a:schemeClr val="accent3"/>
          </a:solidFill>
          <a:ln/>
        </p:spPr>
      </p:sp>
      <p:sp>
        <p:nvSpPr>
          <p:cNvPr id="12" name="Median filter"/>
          <p:cNvSpPr/>
          <p:nvPr/>
        </p:nvSpPr>
        <p:spPr>
          <a:xfrm>
            <a:off x="5120640" y="1645920"/>
            <a:ext cx="1965960" cy="1417320"/>
          </a:xfrm>
          <a:prstGeom prst="roundRect">
            <a:avLst>
              <a:gd name="adj" fmla="val 5161"/>
            </a:avLst>
          </a:prstGeom>
          <a:solidFill>
            <a:schemeClr val="bg2"/>
          </a:solidFill>
          <a:ln w="12700">
            <a:solidFill>
              <a:schemeClr val="accent1"/>
            </a:solidFill>
            <a:prstDash val="solid"/>
          </a:ln>
        </p:spPr>
      </p:sp>
      <p:sp>
        <p:nvSpPr>
          <p:cNvPr id="13" name="Text 11"/>
          <p:cNvSpPr txBox="1"/>
          <p:nvPr/>
        </p:nvSpPr>
        <p:spPr>
          <a:xfrm>
            <a:off x="5230368" y="1737360"/>
            <a:ext cx="17373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Median filter</a:t>
            </a:r>
            <a:endParaRPr lang="en-US" sz="1500" dirty="0"/>
          </a:p>
        </p:txBody>
      </p:sp>
      <p:sp>
        <p:nvSpPr>
          <p:cNvPr id="14" name="Text 12"/>
          <p:cNvSpPr txBox="1"/>
          <p:nvPr/>
        </p:nvSpPr>
        <p:spPr>
          <a:xfrm>
            <a:off x="5230368" y="2121408"/>
            <a:ext cx="173736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3×3 window, integer exact</a:t>
            </a:r>
            <a:endParaRPr lang="en-US" sz="1200" dirty="0"/>
          </a:p>
        </p:txBody>
      </p:sp>
      <p:sp>
        <p:nvSpPr>
          <p:cNvPr id="15" name="arrow"/>
          <p:cNvSpPr/>
          <p:nvPr/>
        </p:nvSpPr>
        <p:spPr>
          <a:xfrm>
            <a:off x="7114032" y="2212848"/>
            <a:ext cx="265176" cy="274320"/>
          </a:xfrm>
          <a:prstGeom prst="rightArrow">
            <a:avLst/>
          </a:prstGeom>
          <a:solidFill>
            <a:schemeClr val="accent3"/>
          </a:solidFill>
          <a:ln/>
        </p:spPr>
      </p:sp>
      <p:sp>
        <p:nvSpPr>
          <p:cNvPr id="16" name="Sobel + threshold"/>
          <p:cNvSpPr/>
          <p:nvPr/>
        </p:nvSpPr>
        <p:spPr>
          <a:xfrm>
            <a:off x="7406640" y="1645920"/>
            <a:ext cx="1965960" cy="1417320"/>
          </a:xfrm>
          <a:prstGeom prst="roundRect">
            <a:avLst>
              <a:gd name="adj" fmla="val 5161"/>
            </a:avLst>
          </a:prstGeom>
          <a:solidFill>
            <a:schemeClr val="bg2"/>
          </a:solidFill>
          <a:ln w="12700">
            <a:solidFill>
              <a:schemeClr val="accent1"/>
            </a:solidFill>
            <a:prstDash val="solid"/>
          </a:ln>
        </p:spPr>
      </p:sp>
      <p:sp>
        <p:nvSpPr>
          <p:cNvPr id="17" name="Text 15"/>
          <p:cNvSpPr txBox="1"/>
          <p:nvPr/>
        </p:nvSpPr>
        <p:spPr>
          <a:xfrm>
            <a:off x="7516368" y="1737360"/>
            <a:ext cx="17373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Sobel + threshold</a:t>
            </a:r>
            <a:endParaRPr lang="en-US" sz="1500" dirty="0"/>
          </a:p>
        </p:txBody>
      </p:sp>
      <p:sp>
        <p:nvSpPr>
          <p:cNvPr id="18" name="Text 16"/>
          <p:cNvSpPr txBox="1"/>
          <p:nvPr/>
        </p:nvSpPr>
        <p:spPr>
          <a:xfrm>
            <a:off x="7516368" y="2121408"/>
            <a:ext cx="173736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|Gx| + |Gy| ≥ 200</a:t>
            </a:r>
            <a:endParaRPr lang="en-US" sz="1200" dirty="0"/>
          </a:p>
        </p:txBody>
      </p:sp>
      <p:sp>
        <p:nvSpPr>
          <p:cNvPr id="19" name="arrow"/>
          <p:cNvSpPr/>
          <p:nvPr/>
        </p:nvSpPr>
        <p:spPr>
          <a:xfrm>
            <a:off x="9400032" y="2212848"/>
            <a:ext cx="265176" cy="274320"/>
          </a:xfrm>
          <a:prstGeom prst="rightArrow">
            <a:avLst/>
          </a:prstGeom>
          <a:solidFill>
            <a:schemeClr val="accent3"/>
          </a:solidFill>
          <a:ln/>
        </p:spPr>
      </p:sp>
      <p:sp>
        <p:nvSpPr>
          <p:cNvPr id="20" name="Evaluate"/>
          <p:cNvSpPr/>
          <p:nvPr/>
        </p:nvSpPr>
        <p:spPr>
          <a:xfrm>
            <a:off x="9692640" y="1645920"/>
            <a:ext cx="1965960" cy="1417320"/>
          </a:xfrm>
          <a:prstGeom prst="roundRect">
            <a:avLst>
              <a:gd name="adj" fmla="val 5161"/>
            </a:avLst>
          </a:prstGeom>
          <a:solidFill>
            <a:schemeClr val="bg2"/>
          </a:solidFill>
          <a:ln w="12700">
            <a:solidFill>
              <a:schemeClr val="accent1"/>
            </a:solidFill>
            <a:prstDash val="solid"/>
          </a:ln>
        </p:spPr>
      </p:sp>
      <p:sp>
        <p:nvSpPr>
          <p:cNvPr id="21" name="Text 19"/>
          <p:cNvSpPr txBox="1"/>
          <p:nvPr/>
        </p:nvSpPr>
        <p:spPr>
          <a:xfrm>
            <a:off x="9802368" y="1737360"/>
            <a:ext cx="17373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Evaluate</a:t>
            </a:r>
            <a:endParaRPr lang="en-US" sz="1500" dirty="0"/>
          </a:p>
        </p:txBody>
      </p:sp>
      <p:sp>
        <p:nvSpPr>
          <p:cNvPr id="22" name="Text 20"/>
          <p:cNvSpPr txBox="1"/>
          <p:nvPr/>
        </p:nvSpPr>
        <p:spPr>
          <a:xfrm>
            <a:off x="9802368" y="2121408"/>
            <a:ext cx="173736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PSNR, SSIM, false edges, F1</a:t>
            </a:r>
            <a:endParaRPr lang="en-US" sz="1200" dirty="0"/>
          </a:p>
        </p:txBody>
      </p:sp>
      <p:sp>
        <p:nvSpPr>
          <p:cNvPr id="23" name="Text 21"/>
          <p:cNvSpPr txBox="1"/>
          <p:nvPr/>
        </p:nvSpPr>
        <p:spPr>
          <a:xfrm>
            <a:off x="548640" y="3611880"/>
            <a:ext cx="10972800" cy="3200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Hardware design and verification (Verilog, Icarus Verilog)</a:t>
            </a:r>
            <a:endParaRPr lang="en-US" sz="1500" dirty="0"/>
          </a:p>
        </p:txBody>
      </p:sp>
      <p:sp>
        <p:nvSpPr>
          <p:cNvPr id="24" name="Test vectors"/>
          <p:cNvSpPr/>
          <p:nvPr/>
        </p:nvSpPr>
        <p:spPr>
          <a:xfrm>
            <a:off x="548640" y="4023360"/>
            <a:ext cx="1965960" cy="1417320"/>
          </a:xfrm>
          <a:prstGeom prst="roundRect">
            <a:avLst>
              <a:gd name="adj" fmla="val 5161"/>
            </a:avLst>
          </a:prstGeom>
          <a:solidFill>
            <a:schemeClr val="bg1"/>
          </a:solidFill>
          <a:ln w="12700">
            <a:solidFill>
              <a:schemeClr val="accent1"/>
            </a:solidFill>
            <a:prstDash val="solid"/>
          </a:ln>
        </p:spPr>
      </p:sp>
      <p:sp>
        <p:nvSpPr>
          <p:cNvPr id="25" name="Text 23"/>
          <p:cNvSpPr txBox="1"/>
          <p:nvPr/>
        </p:nvSpPr>
        <p:spPr>
          <a:xfrm>
            <a:off x="658368" y="4114800"/>
            <a:ext cx="17373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Test vectors</a:t>
            </a:r>
            <a:endParaRPr lang="en-US" sz="1500" dirty="0"/>
          </a:p>
        </p:txBody>
      </p:sp>
      <p:sp>
        <p:nvSpPr>
          <p:cNvPr id="26" name="Text 24"/>
          <p:cNvSpPr txBox="1"/>
          <p:nvPr/>
        </p:nvSpPr>
        <p:spPr>
          <a:xfrm>
            <a:off x="658368" y="4498848"/>
            <a:ext cx="173736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noisy image and expected output as .hex files</a:t>
            </a:r>
            <a:endParaRPr lang="en-US" sz="1200" dirty="0"/>
          </a:p>
        </p:txBody>
      </p:sp>
      <p:sp>
        <p:nvSpPr>
          <p:cNvPr id="27" name="arrow"/>
          <p:cNvSpPr/>
          <p:nvPr/>
        </p:nvSpPr>
        <p:spPr>
          <a:xfrm>
            <a:off x="2542032" y="4590288"/>
            <a:ext cx="265176" cy="274320"/>
          </a:xfrm>
          <a:prstGeom prst="rightArrow">
            <a:avLst/>
          </a:prstGeom>
          <a:solidFill>
            <a:schemeClr val="accent3"/>
          </a:solidFill>
          <a:ln/>
        </p:spPr>
      </p:sp>
      <p:sp>
        <p:nvSpPr>
          <p:cNvPr id="28" name="Verilog RTL"/>
          <p:cNvSpPr/>
          <p:nvPr/>
        </p:nvSpPr>
        <p:spPr>
          <a:xfrm>
            <a:off x="2834640" y="4023360"/>
            <a:ext cx="1965960" cy="1417320"/>
          </a:xfrm>
          <a:prstGeom prst="roundRect">
            <a:avLst>
              <a:gd name="adj" fmla="val 5161"/>
            </a:avLst>
          </a:prstGeom>
          <a:solidFill>
            <a:schemeClr val="bg1"/>
          </a:solidFill>
          <a:ln w="12700">
            <a:solidFill>
              <a:schemeClr val="accent1"/>
            </a:solidFill>
            <a:prstDash val="solid"/>
          </a:ln>
        </p:spPr>
      </p:sp>
      <p:sp>
        <p:nvSpPr>
          <p:cNvPr id="29" name="Text 27"/>
          <p:cNvSpPr txBox="1"/>
          <p:nvPr/>
        </p:nvSpPr>
        <p:spPr>
          <a:xfrm>
            <a:off x="2944368" y="4114800"/>
            <a:ext cx="17373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Verilog RTL</a:t>
            </a:r>
            <a:endParaRPr lang="en-US" sz="1500" dirty="0"/>
          </a:p>
        </p:txBody>
      </p:sp>
      <p:sp>
        <p:nvSpPr>
          <p:cNvPr id="30" name="Text 28"/>
          <p:cNvSpPr txBox="1"/>
          <p:nvPr/>
        </p:nvSpPr>
        <p:spPr>
          <a:xfrm>
            <a:off x="2944368" y="4498848"/>
            <a:ext cx="173736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window_buffer, median_filter, median_stream</a:t>
            </a:r>
            <a:endParaRPr lang="en-US" sz="1200" dirty="0"/>
          </a:p>
        </p:txBody>
      </p:sp>
      <p:sp>
        <p:nvSpPr>
          <p:cNvPr id="31" name="arrow"/>
          <p:cNvSpPr/>
          <p:nvPr/>
        </p:nvSpPr>
        <p:spPr>
          <a:xfrm>
            <a:off x="4828032" y="4590288"/>
            <a:ext cx="265176" cy="274320"/>
          </a:xfrm>
          <a:prstGeom prst="rightArrow">
            <a:avLst/>
          </a:prstGeom>
          <a:solidFill>
            <a:schemeClr val="accent3"/>
          </a:solidFill>
          <a:ln/>
        </p:spPr>
      </p:sp>
      <p:sp>
        <p:nvSpPr>
          <p:cNvPr id="32" name="Simulation"/>
          <p:cNvSpPr/>
          <p:nvPr/>
        </p:nvSpPr>
        <p:spPr>
          <a:xfrm>
            <a:off x="5120640" y="4023360"/>
            <a:ext cx="1965960" cy="1417320"/>
          </a:xfrm>
          <a:prstGeom prst="roundRect">
            <a:avLst>
              <a:gd name="adj" fmla="val 5161"/>
            </a:avLst>
          </a:prstGeom>
          <a:solidFill>
            <a:schemeClr val="bg1"/>
          </a:solidFill>
          <a:ln w="12700">
            <a:solidFill>
              <a:schemeClr val="accent1"/>
            </a:solidFill>
            <a:prstDash val="solid"/>
          </a:ln>
        </p:spPr>
      </p:sp>
      <p:sp>
        <p:nvSpPr>
          <p:cNvPr id="33" name="Text 31"/>
          <p:cNvSpPr txBox="1"/>
          <p:nvPr/>
        </p:nvSpPr>
        <p:spPr>
          <a:xfrm>
            <a:off x="5230368" y="4114800"/>
            <a:ext cx="17373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Simulation</a:t>
            </a:r>
            <a:endParaRPr lang="en-US" sz="1500" dirty="0"/>
          </a:p>
        </p:txBody>
      </p:sp>
      <p:sp>
        <p:nvSpPr>
          <p:cNvPr id="34" name="Text 32"/>
          <p:cNvSpPr txBox="1"/>
          <p:nvPr/>
        </p:nvSpPr>
        <p:spPr>
          <a:xfrm>
            <a:off x="5230368" y="4498848"/>
            <a:ext cx="173736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one pixel per clock, with and without pauses</a:t>
            </a:r>
            <a:endParaRPr lang="en-US" sz="1200" dirty="0"/>
          </a:p>
        </p:txBody>
      </p:sp>
      <p:sp>
        <p:nvSpPr>
          <p:cNvPr id="35" name="arrow"/>
          <p:cNvSpPr/>
          <p:nvPr/>
        </p:nvSpPr>
        <p:spPr>
          <a:xfrm>
            <a:off x="7114032" y="4590288"/>
            <a:ext cx="265176" cy="274320"/>
          </a:xfrm>
          <a:prstGeom prst="rightArrow">
            <a:avLst/>
          </a:prstGeom>
          <a:solidFill>
            <a:schemeClr val="accent3"/>
          </a:solidFill>
          <a:ln/>
        </p:spPr>
      </p:sp>
      <p:sp>
        <p:nvSpPr>
          <p:cNvPr id="36" name="Compare"/>
          <p:cNvSpPr/>
          <p:nvPr/>
        </p:nvSpPr>
        <p:spPr>
          <a:xfrm>
            <a:off x="7406640" y="4023360"/>
            <a:ext cx="1965960" cy="1417320"/>
          </a:xfrm>
          <a:prstGeom prst="roundRect">
            <a:avLst>
              <a:gd name="adj" fmla="val 5161"/>
            </a:avLst>
          </a:prstGeom>
          <a:solidFill>
            <a:schemeClr val="bg1"/>
          </a:solidFill>
          <a:ln w="12700">
            <a:solidFill>
              <a:schemeClr val="accent1"/>
            </a:solidFill>
            <a:prstDash val="solid"/>
          </a:ln>
        </p:spPr>
      </p:sp>
      <p:sp>
        <p:nvSpPr>
          <p:cNvPr id="37" name="Text 35"/>
          <p:cNvSpPr txBox="1"/>
          <p:nvPr/>
        </p:nvSpPr>
        <p:spPr>
          <a:xfrm>
            <a:off x="7516368" y="4114800"/>
            <a:ext cx="17373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Compare</a:t>
            </a:r>
            <a:endParaRPr lang="en-US" sz="1500" dirty="0"/>
          </a:p>
        </p:txBody>
      </p:sp>
      <p:sp>
        <p:nvSpPr>
          <p:cNvPr id="38" name="Text 36"/>
          <p:cNvSpPr txBox="1"/>
          <p:nvPr/>
        </p:nvSpPr>
        <p:spPr>
          <a:xfrm>
            <a:off x="7516368" y="4498848"/>
            <a:ext cx="173736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every output pixel vs Python</a:t>
            </a:r>
            <a:endParaRPr lang="en-US" sz="1200" dirty="0"/>
          </a:p>
        </p:txBody>
      </p:sp>
      <p:sp>
        <p:nvSpPr>
          <p:cNvPr id="39" name="arrow"/>
          <p:cNvSpPr/>
          <p:nvPr/>
        </p:nvSpPr>
        <p:spPr>
          <a:xfrm>
            <a:off x="9400032" y="4590288"/>
            <a:ext cx="265176" cy="274320"/>
          </a:xfrm>
          <a:prstGeom prst="rightArrow">
            <a:avLst/>
          </a:prstGeom>
          <a:solidFill>
            <a:schemeClr val="accent3"/>
          </a:solidFill>
          <a:ln/>
        </p:spPr>
      </p:sp>
      <p:sp>
        <p:nvSpPr>
          <p:cNvPr id="40" name="Results"/>
          <p:cNvSpPr/>
          <p:nvPr/>
        </p:nvSpPr>
        <p:spPr>
          <a:xfrm>
            <a:off x="9692640" y="4023360"/>
            <a:ext cx="1965960" cy="1417320"/>
          </a:xfrm>
          <a:prstGeom prst="roundRect">
            <a:avLst>
              <a:gd name="adj" fmla="val 5161"/>
            </a:avLst>
          </a:prstGeom>
          <a:solidFill>
            <a:schemeClr val="bg1"/>
          </a:solidFill>
          <a:ln w="12700">
            <a:solidFill>
              <a:schemeClr val="accent1"/>
            </a:solidFill>
            <a:prstDash val="solid"/>
          </a:ln>
        </p:spPr>
      </p:sp>
      <p:sp>
        <p:nvSpPr>
          <p:cNvPr id="41" name="Text 39"/>
          <p:cNvSpPr txBox="1"/>
          <p:nvPr/>
        </p:nvSpPr>
        <p:spPr>
          <a:xfrm>
            <a:off x="9802368" y="4114800"/>
            <a:ext cx="173736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Results</a:t>
            </a:r>
            <a:endParaRPr lang="en-US" sz="1500" dirty="0"/>
          </a:p>
        </p:txBody>
      </p:sp>
      <p:sp>
        <p:nvSpPr>
          <p:cNvPr id="42" name="Text 40"/>
          <p:cNvSpPr txBox="1"/>
          <p:nvPr/>
        </p:nvSpPr>
        <p:spPr>
          <a:xfrm>
            <a:off x="9802368" y="4498848"/>
            <a:ext cx="173736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denoised image, waveform, latency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Algorithms: median filter and Sobel operator</a:t>
            </a:r>
            <a:endParaRPr lang="en-US" sz="3200" dirty="0"/>
          </a:p>
        </p:txBody>
      </p:sp>
      <p:sp>
        <p:nvSpPr>
          <p:cNvPr id="3" name="Text 1"/>
          <p:cNvSpPr txBox="1"/>
          <p:nvPr/>
        </p:nvSpPr>
        <p:spPr>
          <a:xfrm>
            <a:off x="548640" y="1280160"/>
            <a:ext cx="5394960" cy="41148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3×3 median filter (hardware method)</a:t>
            </a:r>
            <a:endParaRPr lang="en-US" sz="2000" dirty="0"/>
          </a:p>
        </p:txBody>
      </p:sp>
      <p:sp>
        <p:nvSpPr>
          <p:cNvPr id="4" name="step 1"/>
          <p:cNvSpPr/>
          <p:nvPr/>
        </p:nvSpPr>
        <p:spPr>
          <a:xfrm>
            <a:off x="548640" y="1874520"/>
            <a:ext cx="457200" cy="457200"/>
          </a:xfrm>
          <a:prstGeom prst="ellipse">
            <a:avLst/>
          </a:prstGeom>
          <a:solidFill>
            <a:schemeClr val="accent1"/>
          </a:solidFill>
          <a:ln/>
        </p:spPr>
      </p:sp>
      <p:sp>
        <p:nvSpPr>
          <p:cNvPr id="5" name="Text 3"/>
          <p:cNvSpPr txBox="1"/>
          <p:nvPr/>
        </p:nvSpPr>
        <p:spPr>
          <a:xfrm>
            <a:off x="548640" y="1874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88720" y="1874520"/>
            <a:ext cx="475488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Sort each row of the window into low, middle, high.</a:t>
            </a:r>
            <a:endParaRPr lang="en-US" sz="1500" dirty="0"/>
          </a:p>
        </p:txBody>
      </p:sp>
      <p:sp>
        <p:nvSpPr>
          <p:cNvPr id="7" name="step 2"/>
          <p:cNvSpPr/>
          <p:nvPr/>
        </p:nvSpPr>
        <p:spPr>
          <a:xfrm>
            <a:off x="548640" y="2560320"/>
            <a:ext cx="457200" cy="457200"/>
          </a:xfrm>
          <a:prstGeom prst="ellipse">
            <a:avLst/>
          </a:prstGeom>
          <a:solidFill>
            <a:schemeClr val="accent1"/>
          </a:solidFill>
          <a:ln/>
        </p:spPr>
      </p:sp>
      <p:sp>
        <p:nvSpPr>
          <p:cNvPr id="8" name="Text 6"/>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88720" y="2560320"/>
            <a:ext cx="475488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 = max of lows, B = median of middles, C = min of highs.</a:t>
            </a:r>
            <a:endParaRPr lang="en-US" sz="1500" dirty="0"/>
          </a:p>
        </p:txBody>
      </p:sp>
      <p:sp>
        <p:nvSpPr>
          <p:cNvPr id="10" name="step 3"/>
          <p:cNvSpPr/>
          <p:nvPr/>
        </p:nvSpPr>
        <p:spPr>
          <a:xfrm>
            <a:off x="548640" y="3246120"/>
            <a:ext cx="457200" cy="457200"/>
          </a:xfrm>
          <a:prstGeom prst="ellipse">
            <a:avLst/>
          </a:prstGeom>
          <a:solidFill>
            <a:schemeClr val="accent1"/>
          </a:solidFill>
          <a:ln/>
        </p:spPr>
      </p:sp>
      <p:sp>
        <p:nvSpPr>
          <p:cNvPr id="11" name="Text 9"/>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88720" y="3246120"/>
            <a:ext cx="475488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Median of A, B, C equals the median of all 9 values.</a:t>
            </a:r>
            <a:endParaRPr lang="en-US" sz="1500" dirty="0"/>
          </a:p>
        </p:txBody>
      </p:sp>
      <p:sp>
        <p:nvSpPr>
          <p:cNvPr id="13" name="Text 11"/>
          <p:cNvSpPr txBox="1"/>
          <p:nvPr/>
        </p:nvSpPr>
        <p:spPr>
          <a:xfrm>
            <a:off x="548640" y="4069080"/>
            <a:ext cx="5394960" cy="14630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3 pipeline stages, 31 eight-bit comparators</a:t>
            </a:r>
            <a:endParaRPr lang="en-US" sz="1500" dirty="0"/>
          </a:p>
          <a:p>
            <a:pPr marL="228600" indent="-2286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A new window enters every clock</a:t>
            </a:r>
            <a:endParaRPr lang="en-US" sz="1500" dirty="0"/>
          </a:p>
          <a:p>
            <a:pPr marL="228600" indent="-2286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An isolated 0 or 255 can never be the median</a:t>
            </a:r>
            <a:endParaRPr lang="en-US" sz="1500" dirty="0"/>
          </a:p>
        </p:txBody>
      </p:sp>
      <p:sp>
        <p:nvSpPr>
          <p:cNvPr id="14" name="Text 12"/>
          <p:cNvSpPr txBox="1"/>
          <p:nvPr/>
        </p:nvSpPr>
        <p:spPr>
          <a:xfrm>
            <a:off x="6400800" y="1280160"/>
            <a:ext cx="5212080" cy="41148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Sobel edge detection</a:t>
            </a:r>
            <a:endParaRPr lang="en-US" sz="2000" dirty="0"/>
          </a:p>
        </p:txBody>
      </p:sp>
      <p:pic>
        <p:nvPicPr>
          <p:cNvPr id="15" name="Sobel kernels" descr="/tmp/claude-0/-home-claude-fpga/91c9d659-acc3-5ba9-87f9-0362e6dab428/scratchpad/syn/eq_sobel.png">    </p:cNvPr>
          <p:cNvPicPr>
            <a:picLocks noChangeAspect="1"/>
          </p:cNvPicPr>
          <p:nvPr/>
        </p:nvPicPr>
        <p:blipFill>
          <a:blip r:embed="rId1"/>
          <a:stretch>
            <a:fillRect/>
          </a:stretch>
        </p:blipFill>
        <p:spPr>
          <a:xfrm>
            <a:off x="6400800" y="1874520"/>
            <a:ext cx="5212080" cy="1200634"/>
          </a:xfrm>
          <a:prstGeom prst="rect">
            <a:avLst/>
          </a:prstGeom>
        </p:spPr>
      </p:pic>
      <p:sp>
        <p:nvSpPr>
          <p:cNvPr id="16" name="Text 13"/>
          <p:cNvSpPr txBox="1"/>
          <p:nvPr/>
        </p:nvSpPr>
        <p:spPr>
          <a:xfrm>
            <a:off x="6400800" y="3291840"/>
            <a:ext cx="5212080" cy="21945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Edge if |Gx| + |Gy| ≥ 200 (no square root)</a:t>
            </a:r>
            <a:endParaRPr lang="en-US" sz="1500" dirty="0"/>
          </a:p>
          <a:p>
            <a:pPr marL="228600" indent="-2286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Gx, Gy range −1020 to +1020: 11-bit signed</a:t>
            </a:r>
            <a:endParaRPr lang="en-US" sz="1500" dirty="0"/>
          </a:p>
          <a:p>
            <a:pPr marL="228600" indent="-2286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×2 is a bit shift, so no multipliers are needed</a:t>
            </a:r>
            <a:endParaRPr lang="en-US" sz="1500" dirty="0"/>
          </a:p>
          <a:p>
            <a:pPr marL="228600" indent="-2286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Runs in the software model in this phase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Hardware architecture in Verilog</a:t>
            </a:r>
            <a:endParaRPr lang="en-US" sz="3200" dirty="0"/>
          </a:p>
        </p:txBody>
      </p:sp>
      <p:pic>
        <p:nvPicPr>
          <p:cNvPr id="3" name="architecture" descr="/home/claude/fpga/docs/figures/hw_architecture.png">    </p:cNvPr>
          <p:cNvPicPr>
            <a:picLocks noChangeAspect="1"/>
          </p:cNvPicPr>
          <p:nvPr/>
        </p:nvPicPr>
        <p:blipFill>
          <a:blip r:embed="rId1"/>
          <a:stretch>
            <a:fillRect/>
          </a:stretch>
        </p:blipFill>
        <p:spPr>
          <a:xfrm>
            <a:off x="1298448" y="1188720"/>
            <a:ext cx="9601200" cy="336042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754880"/>
          <a:ext cx="11064240" cy="914400"/>
        </p:xfrm>
        <a:graphic>
          <a:graphicData uri="http://schemas.openxmlformats.org/drawingml/2006/table">
            <a:tbl>
              <a:tblPr/>
              <a:tblGrid>
                <a:gridCol w="2194560"/>
                <a:gridCol w="7680960"/>
                <a:gridCol w="1188720"/>
              </a:tblGrid>
              <a:tr h="27432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Module</a:t>
                      </a:r>
                      <a:endParaRPr lang="en-US" sz="1300" dirty="0">
                        <a:latin typeface="Calibri" charset="0"/>
                        <a:ea typeface="Calibri" charset="0"/>
                        <a:cs typeface="Calibri" charset="0"/>
                      </a:endParaRPr>
                    </a:p>
                  </a:txBody>
                  <a:tcPr marL="76200" marR="76200" marT="25400" marB="25400">
                    <a:lnL w="9525" cap="flat" cmpd="sng" algn="ctr">
                      <a:solidFill>
                        <a:srgbClr val="7A857E"/>
                      </a:solidFill>
                      <a:prstDash val="solid"/>
                      <a:round/>
                      <a:headEnd type="none" w="med" len="med"/>
                      <a:tailEnd type="none" w="med" len="med"/>
                    </a:lnL>
                    <a:lnR w="9525" cap="flat" cmpd="sng" algn="ctr">
                      <a:solidFill>
                        <a:srgbClr val="7A857E"/>
                      </a:solidFill>
                      <a:prstDash val="solid"/>
                      <a:round/>
                      <a:headEnd type="none" w="med" len="med"/>
                      <a:tailEnd type="none" w="med" len="med"/>
                    </a:lnR>
                    <a:lnT w="9525" cap="flat" cmpd="sng" algn="ctr">
                      <a:solidFill>
                        <a:srgbClr val="7A857E"/>
                      </a:solidFill>
                      <a:prstDash val="solid"/>
                      <a:round/>
                      <a:headEnd type="none" w="med" len="med"/>
                      <a:tailEnd type="none" w="med" len="med"/>
                    </a:lnT>
                    <a:lnB w="9525" cap="flat" cmpd="sng" algn="ctr">
                      <a:solidFill>
                        <a:srgbClr val="7A857E"/>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76200" marR="76200" marT="25400" marB="25400">
                    <a:lnL w="9525" cap="flat" cmpd="sng" algn="ctr">
                      <a:solidFill>
                        <a:srgbClr val="7A857E"/>
                      </a:solidFill>
                      <a:prstDash val="solid"/>
                      <a:round/>
                      <a:headEnd type="none" w="med" len="med"/>
                      <a:tailEnd type="none" w="med" len="med"/>
                    </a:lnL>
                    <a:lnR w="9525" cap="flat" cmpd="sng" algn="ctr">
                      <a:solidFill>
                        <a:srgbClr val="7A857E"/>
                      </a:solidFill>
                      <a:prstDash val="solid"/>
                      <a:round/>
                      <a:headEnd type="none" w="med" len="med"/>
                      <a:tailEnd type="none" w="med" len="med"/>
                    </a:lnR>
                    <a:lnT w="9525" cap="flat" cmpd="sng" algn="ctr">
                      <a:solidFill>
                        <a:srgbClr val="7A857E"/>
                      </a:solidFill>
                      <a:prstDash val="solid"/>
                      <a:round/>
                      <a:headEnd type="none" w="med" len="med"/>
                      <a:tailEnd type="none" w="med" len="med"/>
                    </a:lnT>
                    <a:lnB w="9525" cap="flat" cmpd="sng" algn="ctr">
                      <a:solidFill>
                        <a:srgbClr val="7A857E"/>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Clocks</a:t>
                      </a:r>
                      <a:endParaRPr lang="en-US" sz="1300" dirty="0">
                        <a:latin typeface="Calibri" charset="0"/>
                        <a:ea typeface="Calibri" charset="0"/>
                        <a:cs typeface="Calibri" charset="0"/>
                      </a:endParaRPr>
                    </a:p>
                  </a:txBody>
                  <a:tcPr marL="76200" marR="76200" marT="25400" marB="25400">
                    <a:lnL w="9525" cap="flat" cmpd="sng" algn="ctr">
                      <a:solidFill>
                        <a:srgbClr val="7A857E"/>
                      </a:solidFill>
                      <a:prstDash val="solid"/>
                      <a:round/>
                      <a:headEnd type="none" w="med" len="med"/>
                      <a:tailEnd type="none" w="med" len="med"/>
                    </a:lnL>
                    <a:lnR w="9525" cap="flat" cmpd="sng" algn="ctr">
                      <a:solidFill>
                        <a:srgbClr val="7A857E"/>
                      </a:solidFill>
                      <a:prstDash val="solid"/>
                      <a:round/>
                      <a:headEnd type="none" w="med" len="med"/>
                      <a:tailEnd type="none" w="med" len="med"/>
                    </a:lnR>
                    <a:lnT w="9525" cap="flat" cmpd="sng" algn="ctr">
                      <a:solidFill>
                        <a:srgbClr val="7A857E"/>
                      </a:solidFill>
                      <a:prstDash val="solid"/>
                      <a:round/>
                      <a:headEnd type="none" w="med" len="med"/>
                      <a:tailEnd type="none" w="med" len="med"/>
                    </a:lnT>
                    <a:lnB w="9525" cap="flat" cmpd="sng" algn="ctr">
                      <a:solidFill>
                        <a:srgbClr val="7A857E"/>
                      </a:solidFill>
                      <a:prstDash val="solid"/>
                      <a:round/>
                      <a:headEnd type="none" w="med" len="med"/>
                      <a:tailEnd type="none" w="med" len="med"/>
                    </a:lnB>
                    <a:solidFill>
                      <a:schemeClr val="accent1"/>
                    </a:solidFill>
                  </a:tcPr>
                </a:tc>
              </a:tr>
              <a:tr h="2743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window_buffer.v</a:t>
                      </a:r>
                      <a:endParaRPr lang="en-US" sz="1300" dirty="0">
                        <a:latin typeface="Calibri" charset="0"/>
                        <a:ea typeface="Calibri" charset="0"/>
                        <a:cs typeface="Calibri" charset="0"/>
                      </a:endParaRPr>
                    </a:p>
                  </a:txBody>
                  <a:tcPr marL="76200" marR="76200" marT="25400" marB="25400">
                    <a:lnL w="9525" cap="flat" cmpd="sng" algn="ctr">
                      <a:solidFill>
                        <a:srgbClr val="7A857E"/>
                      </a:solidFill>
                      <a:prstDash val="solid"/>
                      <a:round/>
                      <a:headEnd type="none" w="med" len="med"/>
                      <a:tailEnd type="none" w="med" len="med"/>
                    </a:lnL>
                    <a:lnR w="9525" cap="flat" cmpd="sng" algn="ctr">
                      <a:solidFill>
                        <a:srgbClr val="7A857E"/>
                      </a:solidFill>
                      <a:prstDash val="solid"/>
                      <a:round/>
                      <a:headEnd type="none" w="med" len="med"/>
                      <a:tailEnd type="none" w="med" len="med"/>
                    </a:lnR>
                    <a:lnT w="9525" cap="flat" cmpd="sng" algn="ctr">
                      <a:solidFill>
                        <a:srgbClr val="7A857E"/>
                      </a:solidFill>
                      <a:prstDash val="solid"/>
                      <a:round/>
                      <a:headEnd type="none" w="med" len="med"/>
                      <a:tailEnd type="none" w="med" len="med"/>
                    </a:lnT>
                    <a:lnB w="9525" cap="flat" cmpd="sng" algn="ctr">
                      <a:solidFill>
                        <a:srgbClr val="7A857E"/>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Two line buffers keep the previous two rows; 9 registers hold the sliding 3×3 window</a:t>
                      </a:r>
                      <a:endParaRPr lang="en-US" sz="1300" dirty="0">
                        <a:latin typeface="Calibri" charset="0"/>
                        <a:ea typeface="Calibri" charset="0"/>
                        <a:cs typeface="Calibri" charset="0"/>
                      </a:endParaRPr>
                    </a:p>
                  </a:txBody>
                  <a:tcPr marL="76200" marR="76200" marT="25400" marB="25400">
                    <a:lnL w="9525" cap="flat" cmpd="sng" algn="ctr">
                      <a:solidFill>
                        <a:srgbClr val="7A857E"/>
                      </a:solidFill>
                      <a:prstDash val="solid"/>
                      <a:round/>
                      <a:headEnd type="none" w="med" len="med"/>
                      <a:tailEnd type="none" w="med" len="med"/>
                    </a:lnL>
                    <a:lnR w="9525" cap="flat" cmpd="sng" algn="ctr">
                      <a:solidFill>
                        <a:srgbClr val="7A857E"/>
                      </a:solidFill>
                      <a:prstDash val="solid"/>
                      <a:round/>
                      <a:headEnd type="none" w="med" len="med"/>
                      <a:tailEnd type="none" w="med" len="med"/>
                    </a:lnR>
                    <a:lnT w="9525" cap="flat" cmpd="sng" algn="ctr">
                      <a:solidFill>
                        <a:srgbClr val="7A857E"/>
                      </a:solidFill>
                      <a:prstDash val="solid"/>
                      <a:round/>
                      <a:headEnd type="none" w="med" len="med"/>
                      <a:tailEnd type="none" w="med" len="med"/>
                    </a:lnT>
                    <a:lnB w="9525" cap="flat" cmpd="sng" algn="ctr">
                      <a:solidFill>
                        <a:srgbClr val="7A857E"/>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25400" marB="25400">
                    <a:lnL w="9525" cap="flat" cmpd="sng" algn="ctr">
                      <a:solidFill>
                        <a:srgbClr val="7A857E"/>
                      </a:solidFill>
                      <a:prstDash val="solid"/>
                      <a:round/>
                      <a:headEnd type="none" w="med" len="med"/>
                      <a:tailEnd type="none" w="med" len="med"/>
                    </a:lnL>
                    <a:lnR w="9525" cap="flat" cmpd="sng" algn="ctr">
                      <a:solidFill>
                        <a:srgbClr val="7A857E"/>
                      </a:solidFill>
                      <a:prstDash val="solid"/>
                      <a:round/>
                      <a:headEnd type="none" w="med" len="med"/>
                      <a:tailEnd type="none" w="med" len="med"/>
                    </a:lnR>
                    <a:lnT w="9525" cap="flat" cmpd="sng" algn="ctr">
                      <a:solidFill>
                        <a:srgbClr val="7A857E"/>
                      </a:solidFill>
                      <a:prstDash val="solid"/>
                      <a:round/>
                      <a:headEnd type="none" w="med" len="med"/>
                      <a:tailEnd type="none" w="med" len="med"/>
                    </a:lnT>
                    <a:lnB w="9525" cap="flat" cmpd="sng" algn="ctr">
                      <a:solidFill>
                        <a:srgbClr val="7A857E"/>
                      </a:solidFill>
                      <a:prstDash val="solid"/>
                      <a:round/>
                      <a:headEnd type="none" w="med" len="med"/>
                      <a:tailEnd type="none" w="med" len="med"/>
                    </a:lnB>
                  </a:tcPr>
                </a:tc>
              </a:tr>
              <a:tr h="2743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median_filter.v</a:t>
                      </a:r>
                      <a:endParaRPr lang="en-US" sz="1300" dirty="0">
                        <a:latin typeface="Calibri" charset="0"/>
                        <a:ea typeface="Calibri" charset="0"/>
                        <a:cs typeface="Calibri" charset="0"/>
                      </a:endParaRPr>
                    </a:p>
                  </a:txBody>
                  <a:tcPr marL="76200" marR="76200" marT="25400" marB="25400">
                    <a:lnL w="9525" cap="flat" cmpd="sng" algn="ctr">
                      <a:solidFill>
                        <a:srgbClr val="7A857E"/>
                      </a:solidFill>
                      <a:prstDash val="solid"/>
                      <a:round/>
                      <a:headEnd type="none" w="med" len="med"/>
                      <a:tailEnd type="none" w="med" len="med"/>
                    </a:lnL>
                    <a:lnR w="9525" cap="flat" cmpd="sng" algn="ctr">
                      <a:solidFill>
                        <a:srgbClr val="7A857E"/>
                      </a:solidFill>
                      <a:prstDash val="solid"/>
                      <a:round/>
                      <a:headEnd type="none" w="med" len="med"/>
                      <a:tailEnd type="none" w="med" len="med"/>
                    </a:lnR>
                    <a:lnT w="9525" cap="flat" cmpd="sng" algn="ctr">
                      <a:solidFill>
                        <a:srgbClr val="7A857E"/>
                      </a:solidFill>
                      <a:prstDash val="solid"/>
                      <a:round/>
                      <a:headEnd type="none" w="med" len="med"/>
                      <a:tailEnd type="none" w="med" len="med"/>
                    </a:lnT>
                    <a:lnB w="9525" cap="flat" cmpd="sng" algn="ctr">
                      <a:solidFill>
                        <a:srgbClr val="7A857E"/>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Row sort, row combine, final median of three</a:t>
                      </a:r>
                      <a:endParaRPr lang="en-US" sz="1300" dirty="0">
                        <a:latin typeface="Calibri" charset="0"/>
                        <a:ea typeface="Calibri" charset="0"/>
                        <a:cs typeface="Calibri" charset="0"/>
                      </a:endParaRPr>
                    </a:p>
                  </a:txBody>
                  <a:tcPr marL="76200" marR="76200" marT="25400" marB="25400">
                    <a:lnL w="9525" cap="flat" cmpd="sng" algn="ctr">
                      <a:solidFill>
                        <a:srgbClr val="7A857E"/>
                      </a:solidFill>
                      <a:prstDash val="solid"/>
                      <a:round/>
                      <a:headEnd type="none" w="med" len="med"/>
                      <a:tailEnd type="none" w="med" len="med"/>
                    </a:lnL>
                    <a:lnR w="9525" cap="flat" cmpd="sng" algn="ctr">
                      <a:solidFill>
                        <a:srgbClr val="7A857E"/>
                      </a:solidFill>
                      <a:prstDash val="solid"/>
                      <a:round/>
                      <a:headEnd type="none" w="med" len="med"/>
                      <a:tailEnd type="none" w="med" len="med"/>
                    </a:lnR>
                    <a:lnT w="9525" cap="flat" cmpd="sng" algn="ctr">
                      <a:solidFill>
                        <a:srgbClr val="7A857E"/>
                      </a:solidFill>
                      <a:prstDash val="solid"/>
                      <a:round/>
                      <a:headEnd type="none" w="med" len="med"/>
                      <a:tailEnd type="none" w="med" len="med"/>
                    </a:lnT>
                    <a:lnB w="9525" cap="flat" cmpd="sng" algn="ctr">
                      <a:solidFill>
                        <a:srgbClr val="7A857E"/>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25400" marB="25400">
                    <a:lnL w="9525" cap="flat" cmpd="sng" algn="ctr">
                      <a:solidFill>
                        <a:srgbClr val="7A857E"/>
                      </a:solidFill>
                      <a:prstDash val="solid"/>
                      <a:round/>
                      <a:headEnd type="none" w="med" len="med"/>
                      <a:tailEnd type="none" w="med" len="med"/>
                    </a:lnL>
                    <a:lnR w="9525" cap="flat" cmpd="sng" algn="ctr">
                      <a:solidFill>
                        <a:srgbClr val="7A857E"/>
                      </a:solidFill>
                      <a:prstDash val="solid"/>
                      <a:round/>
                      <a:headEnd type="none" w="med" len="med"/>
                      <a:tailEnd type="none" w="med" len="med"/>
                    </a:lnR>
                    <a:lnT w="9525" cap="flat" cmpd="sng" algn="ctr">
                      <a:solidFill>
                        <a:srgbClr val="7A857E"/>
                      </a:solidFill>
                      <a:prstDash val="solid"/>
                      <a:round/>
                      <a:headEnd type="none" w="med" len="med"/>
                      <a:tailEnd type="none" w="med" len="med"/>
                    </a:lnT>
                    <a:lnB w="9525" cap="flat" cmpd="sng" algn="ctr">
                      <a:solidFill>
                        <a:srgbClr val="7A857E"/>
                      </a:solidFill>
                      <a:prstDash val="solid"/>
                      <a:round/>
                      <a:headEnd type="none" w="med" len="med"/>
                      <a:tailEnd type="none" w="med" len="med"/>
                    </a:lnB>
                  </a:tcPr>
                </a:tc>
              </a:tr>
              <a:tr h="2743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median_stream.v</a:t>
                      </a:r>
                      <a:endParaRPr lang="en-US" sz="1300" dirty="0">
                        <a:latin typeface="Calibri" charset="0"/>
                        <a:ea typeface="Calibri" charset="0"/>
                        <a:cs typeface="Calibri" charset="0"/>
                      </a:endParaRPr>
                    </a:p>
                  </a:txBody>
                  <a:tcPr marL="76200" marR="76200" marT="25400" marB="25400">
                    <a:lnL w="9525" cap="flat" cmpd="sng" algn="ctr">
                      <a:solidFill>
                        <a:srgbClr val="7A857E"/>
                      </a:solidFill>
                      <a:prstDash val="solid"/>
                      <a:round/>
                      <a:headEnd type="none" w="med" len="med"/>
                      <a:tailEnd type="none" w="med" len="med"/>
                    </a:lnL>
                    <a:lnR w="9525" cap="flat" cmpd="sng" algn="ctr">
                      <a:solidFill>
                        <a:srgbClr val="7A857E"/>
                      </a:solidFill>
                      <a:prstDash val="solid"/>
                      <a:round/>
                      <a:headEnd type="none" w="med" len="med"/>
                      <a:tailEnd type="none" w="med" len="med"/>
                    </a:lnR>
                    <a:lnT w="9525" cap="flat" cmpd="sng" algn="ctr">
                      <a:solidFill>
                        <a:srgbClr val="7A857E"/>
                      </a:solidFill>
                      <a:prstDash val="solid"/>
                      <a:round/>
                      <a:headEnd type="none" w="med" len="med"/>
                      <a:tailEnd type="none" w="med" len="med"/>
                    </a:lnT>
                    <a:lnB w="9525" cap="flat" cmpd="sng" algn="ctr">
                      <a:solidFill>
                        <a:srgbClr val="7A857E"/>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Top level: pixel and valid flag in, denoised pixel and valid flag out</a:t>
                      </a:r>
                      <a:endParaRPr lang="en-US" sz="1300" dirty="0">
                        <a:latin typeface="Calibri" charset="0"/>
                        <a:ea typeface="Calibri" charset="0"/>
                        <a:cs typeface="Calibri" charset="0"/>
                      </a:endParaRPr>
                    </a:p>
                  </a:txBody>
                  <a:tcPr marL="76200" marR="76200" marT="25400" marB="25400">
                    <a:lnL w="9525" cap="flat" cmpd="sng" algn="ctr">
                      <a:solidFill>
                        <a:srgbClr val="7A857E"/>
                      </a:solidFill>
                      <a:prstDash val="solid"/>
                      <a:round/>
                      <a:headEnd type="none" w="med" len="med"/>
                      <a:tailEnd type="none" w="med" len="med"/>
                    </a:lnL>
                    <a:lnR w="9525" cap="flat" cmpd="sng" algn="ctr">
                      <a:solidFill>
                        <a:srgbClr val="7A857E"/>
                      </a:solidFill>
                      <a:prstDash val="solid"/>
                      <a:round/>
                      <a:headEnd type="none" w="med" len="med"/>
                      <a:tailEnd type="none" w="med" len="med"/>
                    </a:lnR>
                    <a:lnT w="9525" cap="flat" cmpd="sng" algn="ctr">
                      <a:solidFill>
                        <a:srgbClr val="7A857E"/>
                      </a:solidFill>
                      <a:prstDash val="solid"/>
                      <a:round/>
                      <a:headEnd type="none" w="med" len="med"/>
                      <a:tailEnd type="none" w="med" len="med"/>
                    </a:lnT>
                    <a:lnB w="9525" cap="flat" cmpd="sng" algn="ctr">
                      <a:solidFill>
                        <a:srgbClr val="7A857E"/>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4 total</a:t>
                      </a:r>
                      <a:endParaRPr lang="en-US" sz="1300" dirty="0">
                        <a:latin typeface="Calibri" charset="0"/>
                        <a:ea typeface="Calibri" charset="0"/>
                        <a:cs typeface="Calibri" charset="0"/>
                      </a:endParaRPr>
                    </a:p>
                  </a:txBody>
                  <a:tcPr marL="76200" marR="76200" marT="25400" marB="25400">
                    <a:lnL w="9525" cap="flat" cmpd="sng" algn="ctr">
                      <a:solidFill>
                        <a:srgbClr val="7A857E"/>
                      </a:solidFill>
                      <a:prstDash val="solid"/>
                      <a:round/>
                      <a:headEnd type="none" w="med" len="med"/>
                      <a:tailEnd type="none" w="med" len="med"/>
                    </a:lnL>
                    <a:lnR w="9525" cap="flat" cmpd="sng" algn="ctr">
                      <a:solidFill>
                        <a:srgbClr val="7A857E"/>
                      </a:solidFill>
                      <a:prstDash val="solid"/>
                      <a:round/>
                      <a:headEnd type="none" w="med" len="med"/>
                      <a:tailEnd type="none" w="med" len="med"/>
                    </a:lnR>
                    <a:lnT w="9525" cap="flat" cmpd="sng" algn="ctr">
                      <a:solidFill>
                        <a:srgbClr val="7A857E"/>
                      </a:solidFill>
                      <a:prstDash val="solid"/>
                      <a:round/>
                      <a:headEnd type="none" w="med" len="med"/>
                      <a:tailEnd type="none" w="med" len="med"/>
                    </a:lnT>
                    <a:lnB w="9525" cap="flat" cmpd="sng" algn="ctr">
                      <a:solidFill>
                        <a:srgbClr val="7A857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Result: median filtering removes the false edges</a:t>
            </a:r>
            <a:endParaRPr lang="en-US" sz="3200" dirty="0"/>
          </a:p>
        </p:txBody>
      </p:sp>
      <p:pic>
        <p:nvPicPr>
          <p:cNvPr id="3" name="Noisy input (10%)" descr="/tmp/claude-0/-home-claude-fpga/91c9d659-acc3-5ba9-87f9-0362e6dab428/scratchpad/ppt/noisy.png">    </p:cNvPr>
          <p:cNvPicPr>
            <a:picLocks noChangeAspect="1"/>
          </p:cNvPicPr>
          <p:nvPr/>
        </p:nvPicPr>
        <p:blipFill>
          <a:blip r:embed="rId1"/>
          <a:stretch>
            <a:fillRect/>
          </a:stretch>
        </p:blipFill>
        <p:spPr>
          <a:xfrm>
            <a:off x="548640" y="1234440"/>
            <a:ext cx="2606040" cy="2606040"/>
          </a:xfrm>
          <a:prstGeom prst="rect">
            <a:avLst/>
          </a:prstGeom>
        </p:spPr>
      </p:pic>
      <p:sp>
        <p:nvSpPr>
          <p:cNvPr id="4" name="Text 1"/>
          <p:cNvSpPr txBox="1"/>
          <p:nvPr/>
        </p:nvSpPr>
        <p:spPr>
          <a:xfrm>
            <a:off x="548640" y="3904488"/>
            <a:ext cx="260604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Noisy input (10%)</a:t>
            </a:r>
            <a:endParaRPr lang="en-US" sz="1400" dirty="0"/>
          </a:p>
        </p:txBody>
      </p:sp>
      <p:pic>
        <p:nvPicPr>
          <p:cNvPr id="5" name="After median filter" descr="/tmp/claude-0/-home-claude-fpga/91c9d659-acc3-5ba9-87f9-0362e6dab428/scratchpad/ppt/denoised.png">    </p:cNvPr>
          <p:cNvPicPr>
            <a:picLocks noChangeAspect="1"/>
          </p:cNvPicPr>
          <p:nvPr/>
        </p:nvPicPr>
        <p:blipFill>
          <a:blip r:embed="rId2"/>
          <a:stretch>
            <a:fillRect/>
          </a:stretch>
        </p:blipFill>
        <p:spPr>
          <a:xfrm>
            <a:off x="3383280" y="1234440"/>
            <a:ext cx="2606040" cy="2606040"/>
          </a:xfrm>
          <a:prstGeom prst="rect">
            <a:avLst/>
          </a:prstGeom>
        </p:spPr>
      </p:pic>
      <p:sp>
        <p:nvSpPr>
          <p:cNvPr id="6" name="Text 2"/>
          <p:cNvSpPr txBox="1"/>
          <p:nvPr/>
        </p:nvSpPr>
        <p:spPr>
          <a:xfrm>
            <a:off x="3383280" y="3904488"/>
            <a:ext cx="260604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After median filter</a:t>
            </a:r>
            <a:endParaRPr lang="en-US" sz="1400" dirty="0"/>
          </a:p>
        </p:txBody>
      </p:sp>
      <p:pic>
        <p:nvPicPr>
          <p:cNvPr id="7" name="Sobel only" descr="/tmp/claude-0/-home-claude-fpga/91c9d659-acc3-5ba9-87f9-0362e6dab428/scratchpad/ppt/edge_raw.png">    </p:cNvPr>
          <p:cNvPicPr>
            <a:picLocks noChangeAspect="1"/>
          </p:cNvPicPr>
          <p:nvPr/>
        </p:nvPicPr>
        <p:blipFill>
          <a:blip r:embed="rId3"/>
          <a:stretch>
            <a:fillRect/>
          </a:stretch>
        </p:blipFill>
        <p:spPr>
          <a:xfrm>
            <a:off x="6217920" y="1234440"/>
            <a:ext cx="2606040" cy="2606040"/>
          </a:xfrm>
          <a:prstGeom prst="rect">
            <a:avLst/>
          </a:prstGeom>
        </p:spPr>
      </p:pic>
      <p:sp>
        <p:nvSpPr>
          <p:cNvPr id="8" name="Text 3"/>
          <p:cNvSpPr txBox="1"/>
          <p:nvPr/>
        </p:nvSpPr>
        <p:spPr>
          <a:xfrm>
            <a:off x="6217920" y="3904488"/>
            <a:ext cx="260604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Sobel only</a:t>
            </a:r>
            <a:endParaRPr lang="en-US" sz="1400" dirty="0"/>
          </a:p>
        </p:txBody>
      </p:sp>
      <p:pic>
        <p:nvPicPr>
          <p:cNvPr id="9" name="Median, then Sobel" descr="/tmp/claude-0/-home-claude-fpga/91c9d659-acc3-5ba9-87f9-0362e6dab428/scratchpad/ppt/edge_med.png">    </p:cNvPr>
          <p:cNvPicPr>
            <a:picLocks noChangeAspect="1"/>
          </p:cNvPicPr>
          <p:nvPr/>
        </p:nvPicPr>
        <p:blipFill>
          <a:blip r:embed="rId4"/>
          <a:stretch>
            <a:fillRect/>
          </a:stretch>
        </p:blipFill>
        <p:spPr>
          <a:xfrm>
            <a:off x="9052560" y="1234440"/>
            <a:ext cx="2606040" cy="2606040"/>
          </a:xfrm>
          <a:prstGeom prst="rect">
            <a:avLst/>
          </a:prstGeom>
        </p:spPr>
      </p:pic>
      <p:sp>
        <p:nvSpPr>
          <p:cNvPr id="10" name="Text 4"/>
          <p:cNvSpPr txBox="1"/>
          <p:nvPr/>
        </p:nvSpPr>
        <p:spPr>
          <a:xfrm>
            <a:off x="9052560" y="3904488"/>
            <a:ext cx="2606040"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Median, then Sobel</a:t>
            </a:r>
            <a:endParaRPr lang="en-US" sz="1400" dirty="0"/>
          </a:p>
        </p:txBody>
      </p:sp>
      <p:sp>
        <p:nvSpPr>
          <p:cNvPr id="11" name="stat card"/>
          <p:cNvSpPr/>
          <p:nvPr/>
        </p:nvSpPr>
        <p:spPr>
          <a:xfrm>
            <a:off x="548640" y="4526280"/>
            <a:ext cx="3520440" cy="1234440"/>
          </a:xfrm>
          <a:prstGeom prst="roundRect">
            <a:avLst>
              <a:gd name="adj" fmla="val 5926"/>
            </a:avLst>
          </a:prstGeom>
          <a:solidFill>
            <a:schemeClr val="bg2"/>
          </a:solidFill>
          <a:ln/>
        </p:spPr>
      </p:sp>
      <p:sp>
        <p:nvSpPr>
          <p:cNvPr id="12" name="Text 6"/>
          <p:cNvSpPr txBox="1"/>
          <p:nvPr/>
        </p:nvSpPr>
        <p:spPr>
          <a:xfrm>
            <a:off x="731520" y="4636008"/>
            <a:ext cx="315468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94 to 99%</a:t>
            </a:r>
            <a:endParaRPr lang="en-US" sz="3000" dirty="0"/>
          </a:p>
        </p:txBody>
      </p:sp>
      <p:sp>
        <p:nvSpPr>
          <p:cNvPr id="13" name="Text 7"/>
          <p:cNvSpPr txBox="1"/>
          <p:nvPr/>
        </p:nvSpPr>
        <p:spPr>
          <a:xfrm>
            <a:off x="731520" y="5239512"/>
            <a:ext cx="3154680" cy="438912"/>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fewer false edge pixels across all 9 test cases</a:t>
            </a:r>
            <a:endParaRPr lang="en-US" sz="1300" dirty="0"/>
          </a:p>
        </p:txBody>
      </p:sp>
      <p:sp>
        <p:nvSpPr>
          <p:cNvPr id="14" name="stat card"/>
          <p:cNvSpPr/>
          <p:nvPr/>
        </p:nvSpPr>
        <p:spPr>
          <a:xfrm>
            <a:off x="4315968" y="4526280"/>
            <a:ext cx="3520440" cy="1234440"/>
          </a:xfrm>
          <a:prstGeom prst="roundRect">
            <a:avLst>
              <a:gd name="adj" fmla="val 5926"/>
            </a:avLst>
          </a:prstGeom>
          <a:solidFill>
            <a:schemeClr val="bg2"/>
          </a:solidFill>
          <a:ln/>
        </p:spPr>
      </p:sp>
      <p:sp>
        <p:nvSpPr>
          <p:cNvPr id="15" name="Text 9"/>
          <p:cNvSpPr txBox="1"/>
          <p:nvPr/>
        </p:nvSpPr>
        <p:spPr>
          <a:xfrm>
            <a:off x="4498848" y="4636008"/>
            <a:ext cx="315468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0.42 → 0.81</a:t>
            </a:r>
            <a:endParaRPr lang="en-US" sz="3000" dirty="0"/>
          </a:p>
        </p:txBody>
      </p:sp>
      <p:sp>
        <p:nvSpPr>
          <p:cNvPr id="16" name="Text 10"/>
          <p:cNvSpPr txBox="1"/>
          <p:nvPr/>
        </p:nvSpPr>
        <p:spPr>
          <a:xfrm>
            <a:off x="4498848" y="5239512"/>
            <a:ext cx="3154680" cy="438912"/>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edge F1 score, cameraman at 10% noise</a:t>
            </a:r>
            <a:endParaRPr lang="en-US" sz="1300" dirty="0"/>
          </a:p>
        </p:txBody>
      </p:sp>
      <p:sp>
        <p:nvSpPr>
          <p:cNvPr id="17" name="stat card"/>
          <p:cNvSpPr/>
          <p:nvPr/>
        </p:nvSpPr>
        <p:spPr>
          <a:xfrm>
            <a:off x="8092440" y="4526280"/>
            <a:ext cx="3520440" cy="1234440"/>
          </a:xfrm>
          <a:prstGeom prst="roundRect">
            <a:avLst>
              <a:gd name="adj" fmla="val 5926"/>
            </a:avLst>
          </a:prstGeom>
          <a:solidFill>
            <a:schemeClr val="bg2"/>
          </a:solidFill>
          <a:ln/>
        </p:spPr>
      </p:sp>
      <p:sp>
        <p:nvSpPr>
          <p:cNvPr id="18" name="Text 12"/>
          <p:cNvSpPr txBox="1"/>
          <p:nvPr/>
        </p:nvSpPr>
        <p:spPr>
          <a:xfrm>
            <a:off x="8275320" y="4636008"/>
            <a:ext cx="315468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15.2 → 26.3 dB</a:t>
            </a:r>
            <a:endParaRPr lang="en-US" sz="3000" dirty="0"/>
          </a:p>
        </p:txBody>
      </p:sp>
      <p:sp>
        <p:nvSpPr>
          <p:cNvPr id="19" name="Text 13"/>
          <p:cNvSpPr txBox="1"/>
          <p:nvPr/>
        </p:nvSpPr>
        <p:spPr>
          <a:xfrm>
            <a:off x="8275320" y="5239512"/>
            <a:ext cx="3154680" cy="438912"/>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PSNR of the image after filtering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Edge accuracy across images and noise levels</a:t>
            </a:r>
            <a:endParaRPr lang="en-US" sz="3200" dirty="0"/>
          </a:p>
        </p:txBody>
      </p:sp>
      <p:graphicFrame>
        <p:nvGraphicFramePr>
          <p:cNvPr id="3" name="Chart 0" descr=""/>
          <p:cNvGraphicFramePr/>
          <p:nvPr/>
        </p:nvGraphicFramePr>
        <p:xfrm>
          <a:off x="548640" y="1234440"/>
          <a:ext cx="7589520" cy="4937760"/>
        </p:xfrm>
        <a:graphic xmlns:a="http://schemas.openxmlformats.org/drawingml/2006/main">
          <a:graphicData uri="http://schemas.openxmlformats.org/drawingml/2006/chart">
            <c:chart xmlns:c="http://schemas.openxmlformats.org/drawingml/2006/chart" r:id="rId1"/>
          </a:graphicData>
        </a:graphic>
      </p:graphicFrame>
      <p:sp>
        <p:nvSpPr>
          <p:cNvPr id="4" name="stat card"/>
          <p:cNvSpPr/>
          <p:nvPr/>
        </p:nvSpPr>
        <p:spPr>
          <a:xfrm>
            <a:off x="8503920" y="1325880"/>
            <a:ext cx="3108960" cy="1234440"/>
          </a:xfrm>
          <a:prstGeom prst="roundRect">
            <a:avLst>
              <a:gd name="adj" fmla="val 5926"/>
            </a:avLst>
          </a:prstGeom>
          <a:solidFill>
            <a:schemeClr val="bg2"/>
          </a:solidFill>
          <a:ln/>
        </p:spPr>
      </p:sp>
      <p:sp>
        <p:nvSpPr>
          <p:cNvPr id="5" name="Text 2"/>
          <p:cNvSpPr txBox="1"/>
          <p:nvPr/>
        </p:nvSpPr>
        <p:spPr>
          <a:xfrm>
            <a:off x="8686800" y="1435608"/>
            <a:ext cx="274320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 0.76</a:t>
            </a:r>
            <a:endParaRPr lang="en-US" sz="3000" dirty="0"/>
          </a:p>
        </p:txBody>
      </p:sp>
      <p:sp>
        <p:nvSpPr>
          <p:cNvPr id="6" name="Text 3"/>
          <p:cNvSpPr txBox="1"/>
          <p:nvPr/>
        </p:nvSpPr>
        <p:spPr>
          <a:xfrm>
            <a:off x="8686800" y="2039112"/>
            <a:ext cx="2743200" cy="438912"/>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F1 with the median filter, in every case</a:t>
            </a:r>
            <a:endParaRPr lang="en-US" sz="1300" dirty="0"/>
          </a:p>
        </p:txBody>
      </p:sp>
      <p:sp>
        <p:nvSpPr>
          <p:cNvPr id="7" name="stat card"/>
          <p:cNvSpPr/>
          <p:nvPr/>
        </p:nvSpPr>
        <p:spPr>
          <a:xfrm>
            <a:off x="8503920" y="2743200"/>
            <a:ext cx="3108960" cy="1234440"/>
          </a:xfrm>
          <a:prstGeom prst="roundRect">
            <a:avLst>
              <a:gd name="adj" fmla="val 5926"/>
            </a:avLst>
          </a:prstGeom>
          <a:solidFill>
            <a:schemeClr val="bg2"/>
          </a:solidFill>
          <a:ln/>
        </p:spPr>
      </p:sp>
      <p:sp>
        <p:nvSpPr>
          <p:cNvPr id="8" name="Text 5"/>
          <p:cNvSpPr txBox="1"/>
          <p:nvPr/>
        </p:nvSpPr>
        <p:spPr>
          <a:xfrm>
            <a:off x="8686800" y="2852928"/>
            <a:ext cx="2743200" cy="594360"/>
          </a:xfrm>
          <a:prstGeom prst="rect">
            <a:avLst/>
          </a:prstGeom>
          <a:noFill/>
          <a:ln/>
        </p:spPr>
        <p:txBody>
          <a:bodyPr wrap="square" lIns="0" tIns="0" rIns="0" bIns="0" rtlCol="0" anchor="ctr"/>
          <a:lstStyle/>
          <a:p>
            <a:pPr indent="0" marL="0">
              <a:buNone/>
            </a:pPr>
            <a:r>
              <a:rPr lang="en-US" sz="3000" b="1" dirty="0">
                <a:solidFill>
                  <a:schemeClr val="accent6"/>
                </a:solidFill>
                <a:latin typeface="Cambria" pitchFamily="34" charset="0"/>
                <a:ea typeface="Cambria" pitchFamily="34" charset="-122"/>
                <a:cs typeface="Cambria" pitchFamily="34" charset="-120"/>
              </a:rPr>
              <a:t>0.22</a:t>
            </a:r>
            <a:endParaRPr lang="en-US" sz="3000" dirty="0"/>
          </a:p>
        </p:txBody>
      </p:sp>
      <p:sp>
        <p:nvSpPr>
          <p:cNvPr id="9" name="Text 6"/>
          <p:cNvSpPr txBox="1"/>
          <p:nvPr/>
        </p:nvSpPr>
        <p:spPr>
          <a:xfrm>
            <a:off x="8686800" y="3456432"/>
            <a:ext cx="2743200" cy="438912"/>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worst F1 without it (shapes, 20% noise)</a:t>
            </a:r>
            <a:endParaRPr lang="en-US" sz="1300" dirty="0"/>
          </a:p>
        </p:txBody>
      </p:sp>
      <p:sp>
        <p:nvSpPr>
          <p:cNvPr id="10" name="Text 7"/>
          <p:cNvSpPr txBox="1"/>
          <p:nvPr/>
        </p:nvSpPr>
        <p:spPr>
          <a:xfrm>
            <a:off x="8503920" y="4251960"/>
            <a:ext cx="3108960" cy="18288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The gap widens as noise increases.</a:t>
            </a:r>
            <a:endParaRPr lang="en-US" sz="1400" dirty="0"/>
          </a:p>
          <a:p>
            <a:pPr marL="228600" indent="-2286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At 20% noise some windows hold 5+ noise pixels, so a few clusters remain.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Hardware verification: bit-exact with Python</a:t>
            </a:r>
            <a:endParaRPr lang="en-US" sz="3200" dirty="0"/>
          </a:p>
        </p:txBody>
      </p:sp>
      <p:pic>
        <p:nvPicPr>
          <p:cNvPr id="3" name="waveform" descr="/home/claude/fpga/docs/figures/waveform_median.png">    </p:cNvPr>
          <p:cNvPicPr>
            <a:picLocks noChangeAspect="1"/>
          </p:cNvPicPr>
          <p:nvPr/>
        </p:nvPicPr>
        <p:blipFill>
          <a:blip r:embed="rId1"/>
          <a:stretch>
            <a:fillRect/>
          </a:stretch>
        </p:blipFill>
        <p:spPr>
          <a:xfrm>
            <a:off x="548640" y="1234440"/>
            <a:ext cx="6949440" cy="2779776"/>
          </a:xfrm>
          <a:prstGeom prst="rect">
            <a:avLst/>
          </a:prstGeom>
        </p:spPr>
      </p:pic>
      <p:sp>
        <p:nvSpPr>
          <p:cNvPr id="4" name="Text 1"/>
          <p:cNvSpPr txBox="1"/>
          <p:nvPr/>
        </p:nvSpPr>
        <p:spPr>
          <a:xfrm>
            <a:off x="548640" y="4069080"/>
            <a:ext cx="6949440" cy="457200"/>
          </a:xfrm>
          <a:prstGeom prst="rect">
            <a:avLst/>
          </a:prstGeom>
          <a:noFill/>
          <a:ln/>
        </p:spPr>
        <p:txBody>
          <a:bodyPr wrap="square" lIns="0" tIns="0" rIns="0" bIns="0" rtlCol="0" anchor="ctr"/>
          <a:lstStyle/>
          <a:p>
            <a:pPr indent="0" marL="0">
              <a:buNone/>
            </a:pPr>
            <a:r>
              <a:rPr lang="en-US" sz="1200" i="1" dirty="0">
                <a:solidFill>
                  <a:schemeClr val="accent5"/>
                </a:solidFill>
                <a:latin typeface="Calibri" pitchFamily="34" charset="0"/>
                <a:ea typeface="Calibri" pitchFamily="34" charset="-122"/>
                <a:cs typeface="Calibri" pitchFamily="34" charset="-120"/>
              </a:rPr>
              <a:t>Icarus Verilog waveform: two black noise pixels enter on pix_in, but median_out stays near 200</a:t>
            </a:r>
            <a:endParaRPr lang="en-US" sz="1200" dirty="0"/>
          </a:p>
        </p:txBody>
      </p:sp>
      <p:sp>
        <p:nvSpPr>
          <p:cNvPr id="5" name="stat card"/>
          <p:cNvSpPr/>
          <p:nvPr/>
        </p:nvSpPr>
        <p:spPr>
          <a:xfrm>
            <a:off x="7863840" y="1188720"/>
            <a:ext cx="3749040" cy="1143000"/>
          </a:xfrm>
          <a:prstGeom prst="roundRect">
            <a:avLst>
              <a:gd name="adj" fmla="val 6400"/>
            </a:avLst>
          </a:prstGeom>
          <a:solidFill>
            <a:schemeClr val="bg2"/>
          </a:solidFill>
          <a:ln/>
        </p:spPr>
      </p:sp>
      <p:sp>
        <p:nvSpPr>
          <p:cNvPr id="6" name="Text 3"/>
          <p:cNvSpPr txBox="1"/>
          <p:nvPr/>
        </p:nvSpPr>
        <p:spPr>
          <a:xfrm>
            <a:off x="8046720" y="1298448"/>
            <a:ext cx="338328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2,000 / 2,000</a:t>
            </a:r>
            <a:endParaRPr lang="en-US" sz="3000" dirty="0"/>
          </a:p>
        </p:txBody>
      </p:sp>
      <p:sp>
        <p:nvSpPr>
          <p:cNvPr id="7" name="Text 4"/>
          <p:cNvSpPr txBox="1"/>
          <p:nvPr/>
        </p:nvSpPr>
        <p:spPr>
          <a:xfrm>
            <a:off x="8046720" y="1901952"/>
            <a:ext cx="3383280" cy="438912"/>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unit-test windows match the Python model</a:t>
            </a:r>
            <a:endParaRPr lang="en-US" sz="1300" dirty="0"/>
          </a:p>
        </p:txBody>
      </p:sp>
      <p:sp>
        <p:nvSpPr>
          <p:cNvPr id="8" name="stat card"/>
          <p:cNvSpPr/>
          <p:nvPr/>
        </p:nvSpPr>
        <p:spPr>
          <a:xfrm>
            <a:off x="7863840" y="2450592"/>
            <a:ext cx="3749040" cy="1143000"/>
          </a:xfrm>
          <a:prstGeom prst="roundRect">
            <a:avLst>
              <a:gd name="adj" fmla="val 6400"/>
            </a:avLst>
          </a:prstGeom>
          <a:solidFill>
            <a:schemeClr val="bg2"/>
          </a:solidFill>
          <a:ln/>
        </p:spPr>
      </p:sp>
      <p:sp>
        <p:nvSpPr>
          <p:cNvPr id="9" name="Text 6"/>
          <p:cNvSpPr txBox="1"/>
          <p:nvPr/>
        </p:nvSpPr>
        <p:spPr>
          <a:xfrm>
            <a:off x="8046720" y="2560320"/>
            <a:ext cx="338328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 errors</a:t>
            </a:r>
            <a:endParaRPr lang="en-US" sz="3000" dirty="0"/>
          </a:p>
        </p:txBody>
      </p:sp>
      <p:sp>
        <p:nvSpPr>
          <p:cNvPr id="10" name="Text 7"/>
          <p:cNvSpPr txBox="1"/>
          <p:nvPr/>
        </p:nvSpPr>
        <p:spPr>
          <a:xfrm>
            <a:off x="8046720" y="3163824"/>
            <a:ext cx="3383280" cy="438912"/>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on all 15,876 pixels of a full image, with and without input pauses</a:t>
            </a:r>
            <a:endParaRPr lang="en-US" sz="1300" dirty="0"/>
          </a:p>
        </p:txBody>
      </p:sp>
      <p:sp>
        <p:nvSpPr>
          <p:cNvPr id="11" name="stat card"/>
          <p:cNvSpPr/>
          <p:nvPr/>
        </p:nvSpPr>
        <p:spPr>
          <a:xfrm>
            <a:off x="7863840" y="3712464"/>
            <a:ext cx="3749040" cy="1143000"/>
          </a:xfrm>
          <a:prstGeom prst="roundRect">
            <a:avLst>
              <a:gd name="adj" fmla="val 6400"/>
            </a:avLst>
          </a:prstGeom>
          <a:solidFill>
            <a:schemeClr val="bg2"/>
          </a:solidFill>
          <a:ln/>
        </p:spPr>
      </p:sp>
      <p:sp>
        <p:nvSpPr>
          <p:cNvPr id="12" name="Text 9"/>
          <p:cNvSpPr txBox="1"/>
          <p:nvPr/>
        </p:nvSpPr>
        <p:spPr>
          <a:xfrm>
            <a:off x="8046720" y="3822192"/>
            <a:ext cx="338328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 pixel / clock</a:t>
            </a:r>
            <a:endParaRPr lang="en-US" sz="3000" dirty="0"/>
          </a:p>
        </p:txBody>
      </p:sp>
      <p:sp>
        <p:nvSpPr>
          <p:cNvPr id="13" name="Text 10"/>
          <p:cNvSpPr txBox="1"/>
          <p:nvPr/>
        </p:nvSpPr>
        <p:spPr>
          <a:xfrm>
            <a:off x="8046720" y="4425696"/>
            <a:ext cx="3383280" cy="438912"/>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throughput (16,384 pixels in 16,389 clocks)</a:t>
            </a:r>
            <a:endParaRPr lang="en-US" sz="1300" dirty="0"/>
          </a:p>
        </p:txBody>
      </p:sp>
      <p:sp>
        <p:nvSpPr>
          <p:cNvPr id="14" name="stat card"/>
          <p:cNvSpPr/>
          <p:nvPr/>
        </p:nvSpPr>
        <p:spPr>
          <a:xfrm>
            <a:off x="7863840" y="4974336"/>
            <a:ext cx="3749040" cy="1143000"/>
          </a:xfrm>
          <a:prstGeom prst="roundRect">
            <a:avLst>
              <a:gd name="adj" fmla="val 6400"/>
            </a:avLst>
          </a:prstGeom>
          <a:solidFill>
            <a:schemeClr val="bg2"/>
          </a:solidFill>
          <a:ln/>
        </p:spPr>
      </p:sp>
      <p:sp>
        <p:nvSpPr>
          <p:cNvPr id="15" name="Text 12"/>
          <p:cNvSpPr txBox="1"/>
          <p:nvPr/>
        </p:nvSpPr>
        <p:spPr>
          <a:xfrm>
            <a:off x="8046720" y="5084064"/>
            <a:ext cx="338328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4 stages</a:t>
            </a:r>
            <a:endParaRPr lang="en-US" sz="3000" dirty="0"/>
          </a:p>
        </p:txBody>
      </p:sp>
      <p:sp>
        <p:nvSpPr>
          <p:cNvPr id="16" name="Text 13"/>
          <p:cNvSpPr txBox="1"/>
          <p:nvPr/>
        </p:nvSpPr>
        <p:spPr>
          <a:xfrm>
            <a:off x="8046720" y="5687568"/>
            <a:ext cx="3383280" cy="438912"/>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latency: window 1 + median 3</a:t>
            </a:r>
            <a:endParaRPr lang="en-US" sz="1300" dirty="0"/>
          </a:p>
        </p:txBody>
      </p:sp>
      <p:sp>
        <p:nvSpPr>
          <p:cNvPr id="17" name="Text 14"/>
          <p:cNvSpPr txBox="1"/>
          <p:nvPr/>
        </p:nvSpPr>
        <p:spPr>
          <a:xfrm>
            <a:off x="548640" y="4754880"/>
            <a:ext cx="6949440" cy="1371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Testbenches read the noisy image from .hex files and compare every output automatically.</a:t>
            </a:r>
            <a:endParaRPr lang="en-US" sz="1500" dirty="0"/>
          </a:p>
          <a:p>
            <a:pPr marL="228600" indent="-2286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The rebuilt hardware output image is identical to the Python result.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10972800" cy="77724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Conclusion and future scope</a:t>
            </a:r>
            <a:endParaRPr lang="en-US" sz="3400" dirty="0"/>
          </a:p>
        </p:txBody>
      </p:sp>
      <p:sp>
        <p:nvSpPr>
          <p:cNvPr id="3" name="Text 1"/>
          <p:cNvSpPr txBox="1"/>
          <p:nvPr/>
        </p:nvSpPr>
        <p:spPr>
          <a:xfrm>
            <a:off x="548640" y="1508760"/>
            <a:ext cx="5486400" cy="411480"/>
          </a:xfrm>
          <a:prstGeom prst="rect">
            <a:avLst/>
          </a:prstGeom>
          <a:noFill/>
          <a:ln/>
        </p:spPr>
        <p:txBody>
          <a:bodyPr wrap="square" lIns="0" tIns="0" rIns="0" bIns="0" rtlCol="0" anchor="ctr"/>
          <a:lstStyle/>
          <a:p>
            <a:pPr indent="0" marL="0">
              <a:buNone/>
            </a:pPr>
            <a:r>
              <a:rPr lang="en-US" sz="2000" b="1" dirty="0">
                <a:solidFill>
                  <a:schemeClr val="accent4"/>
                </a:solidFill>
                <a:latin typeface="Cambria" pitchFamily="34" charset="0"/>
                <a:ea typeface="Cambria" pitchFamily="34" charset="-122"/>
                <a:cs typeface="Cambria" pitchFamily="34" charset="-120"/>
              </a:rPr>
              <a:t>What this phase achieved</a:t>
            </a:r>
            <a:endParaRPr lang="en-US" sz="2000" dirty="0"/>
          </a:p>
        </p:txBody>
      </p:sp>
      <p:sp>
        <p:nvSpPr>
          <p:cNvPr id="4" name="Text 2"/>
          <p:cNvSpPr txBox="1"/>
          <p:nvPr/>
        </p:nvSpPr>
        <p:spPr>
          <a:xfrm>
            <a:off x="548640" y="2011680"/>
            <a:ext cx="5394960" cy="29260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Median filtering before Sobel cut false edges by 94 to 99% and kept edge F1 at 0.76 or above.</a:t>
            </a:r>
            <a:endParaRPr lang="en-US" sz="1600" dirty="0"/>
          </a:p>
          <a:p>
            <a:pPr marL="228600" indent="-2286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Pipelined Verilog median filter: 1 pixel per clock, 4-stage latency, only two line buffers.</a:t>
            </a:r>
            <a:endParaRPr lang="en-US" sz="1600" dirty="0"/>
          </a:p>
          <a:p>
            <a:pPr marL="228600" indent="-2286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Hardware matches the software model on every pixel, even with irregular input.</a:t>
            </a:r>
            <a:endParaRPr lang="en-US" sz="1600" dirty="0"/>
          </a:p>
        </p:txBody>
      </p:sp>
      <p:sp>
        <p:nvSpPr>
          <p:cNvPr id="5" name="Text 3"/>
          <p:cNvSpPr txBox="1"/>
          <p:nvPr/>
        </p:nvSpPr>
        <p:spPr>
          <a:xfrm>
            <a:off x="6492240" y="1508760"/>
            <a:ext cx="5120640" cy="411480"/>
          </a:xfrm>
          <a:prstGeom prst="rect">
            <a:avLst/>
          </a:prstGeom>
          <a:noFill/>
          <a:ln/>
        </p:spPr>
        <p:txBody>
          <a:bodyPr wrap="square" lIns="0" tIns="0" rIns="0" bIns="0" rtlCol="0" anchor="ctr"/>
          <a:lstStyle/>
          <a:p>
            <a:pPr indent="0" marL="0">
              <a:buNone/>
            </a:pPr>
            <a:r>
              <a:rPr lang="en-US" sz="2000" b="1" dirty="0">
                <a:solidFill>
                  <a:schemeClr val="accent4"/>
                </a:solidFill>
                <a:latin typeface="Cambria" pitchFamily="34" charset="0"/>
                <a:ea typeface="Cambria" pitchFamily="34" charset="-122"/>
                <a:cs typeface="Cambria" pitchFamily="34" charset="-120"/>
              </a:rPr>
              <a:t>Next steps</a:t>
            </a:r>
            <a:endParaRPr lang="en-US" sz="2000" dirty="0"/>
          </a:p>
        </p:txBody>
      </p:sp>
      <p:sp>
        <p:nvSpPr>
          <p:cNvPr id="6" name="Text 4"/>
          <p:cNvSpPr txBox="1"/>
          <p:nvPr/>
        </p:nvSpPr>
        <p:spPr>
          <a:xfrm>
            <a:off x="6492240" y="2011680"/>
            <a:ext cx="5120640" cy="29260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Implement Sobel and threshold in Verilog for a complete hardware pipeline.</a:t>
            </a:r>
            <a:endParaRPr lang="en-US" sz="1600" dirty="0"/>
          </a:p>
          <a:p>
            <a:pPr marL="228600" indent="-2286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Synthesise for Artix-7: resources, maximum clock frequency, power.</a:t>
            </a:r>
            <a:endParaRPr lang="en-US" sz="1600" dirty="0"/>
          </a:p>
          <a:p>
            <a:pPr marL="228600" indent="-2286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Adaptive median filter for noise above 20%; test on an FPGA board.</a:t>
            </a:r>
            <a:endParaRPr lang="en-US" sz="1600" dirty="0"/>
          </a:p>
        </p:txBody>
      </p:sp>
      <p:sp>
        <p:nvSpPr>
          <p:cNvPr id="7" name="Text 5"/>
          <p:cNvSpPr txBox="1"/>
          <p:nvPr/>
        </p:nvSpPr>
        <p:spPr>
          <a:xfrm>
            <a:off x="548640" y="5394960"/>
            <a:ext cx="5486400" cy="64008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Thank you</a:t>
            </a:r>
            <a:endParaRPr lang="en-US" sz="3000" dirty="0"/>
          </a:p>
        </p:txBody>
      </p:sp>
      <p:sp>
        <p:nvSpPr>
          <p:cNvPr id="8" name="Text 6"/>
          <p:cNvSpPr txBox="1"/>
          <p:nvPr/>
        </p:nvSpPr>
        <p:spPr>
          <a:xfrm>
            <a:off x="6492240" y="5532120"/>
            <a:ext cx="5120640" cy="411480"/>
          </a:xfrm>
          <a:prstGeom prst="rect">
            <a:avLst/>
          </a:prstGeom>
          <a:noFill/>
          <a:ln/>
        </p:spPr>
        <p:txBody>
          <a:bodyPr wrap="square" lIns="0" tIns="0" rIns="0" bIns="0" rtlCol="0" anchor="ctr"/>
          <a:lstStyle/>
          <a:p>
            <a:pPr indent="0" marL="0">
              <a:buNone/>
            </a:pPr>
            <a:r>
              <a:rPr lang="en-US" sz="1500" dirty="0">
                <a:solidFill>
                  <a:schemeClr val="accent4"/>
                </a:solidFill>
                <a:latin typeface="Calibri" pitchFamily="34" charset="0"/>
                <a:ea typeface="Calibri" pitchFamily="34" charset="-122"/>
                <a:cs typeface="Calibri" pitchFamily="34" charset="-120"/>
              </a:rPr>
              <a:t>Code: github.com/NainaS28/FPGA</a:t>
            </a:r>
            <a:endParaRPr lang="en-US" sz="1500" dirty="0"/>
          </a:p>
        </p:txBody>
      </p:sp>
    </p:spTree>
  </p:cSld>
  <p:clrMapOvr>
    <a:masterClrMapping/>
  </p:clrMapOvr>
</p:sld>
</file>

<file path=ppt/theme/theme1.xml><?xml version="1.0" encoding="utf-8"?>
<a:theme xmlns:a="http://schemas.openxmlformats.org/drawingml/2006/main" name="FPGA Bench">
  <a:themeElements>
    <a:clrScheme name="FPGA Bench">
      <a:dk1>
        <a:srgbClr val="14231B"/>
      </a:dk1>
      <a:lt1>
        <a:srgbClr val="FFFFFF"/>
      </a:lt1>
      <a:dk2>
        <a:srgbClr val="1E6B47"/>
      </a:dk2>
      <a:lt2>
        <a:srgbClr val="EDF1EC"/>
      </a:lt2>
      <a:accent1>
        <a:srgbClr val="1E6B47"/>
      </a:accent1>
      <a:accent2>
        <a:srgbClr val="B77F00"/>
      </a:accent2>
      <a:accent3>
        <a:srgbClr val="7A857E"/>
      </a:accent3>
      <a:accent4>
        <a:srgbClr val="D7E6DC"/>
      </a:accent4>
      <a:accent5>
        <a:srgbClr val="4A5A50"/>
      </a:accent5>
      <a:accent6>
        <a:srgbClr val="C2412D"/>
      </a:accent6>
      <a:hlink>
        <a:srgbClr val="1E6B47"/>
      </a:hlink>
      <a:folHlink>
        <a:srgbClr val="4A5A50"/>
      </a:folHlink>
    </a:clrScheme>
    <a:fontScheme name="FPGA Ben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Pipelined FPGA Median Filter and Sobel Edge Detection</dc:title>
  <dc:subject>PptxGenJS Presentation</dc:subject>
  <dc:creator>Naina Sehgal</dc:creator>
  <cp:lastModifiedBy>Naina Sehgal</cp:lastModifiedBy>
  <cp:revision>1</cp:revision>
  <dcterms:created xsi:type="dcterms:W3CDTF">2026-10-07T04:59:42Z</dcterms:created>
  <dcterms:modified xsi:type="dcterms:W3CDTF">2026-10-07T04:59:42Z</dcterms:modified>
</cp:coreProperties>
</file>